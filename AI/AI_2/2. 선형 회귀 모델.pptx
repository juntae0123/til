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724" r:id="rId5"/>
    <p:sldId id="858" r:id="rId6"/>
    <p:sldId id="722" r:id="rId7"/>
    <p:sldId id="859" r:id="rId8"/>
    <p:sldId id="860" r:id="rId9"/>
    <p:sldId id="863" r:id="rId10"/>
    <p:sldId id="862" r:id="rId11"/>
    <p:sldId id="864" r:id="rId12"/>
    <p:sldId id="905" r:id="rId13"/>
    <p:sldId id="906" r:id="rId14"/>
    <p:sldId id="907" r:id="rId15"/>
    <p:sldId id="908" r:id="rId16"/>
    <p:sldId id="909" r:id="rId17"/>
    <p:sldId id="866" r:id="rId18"/>
    <p:sldId id="869" r:id="rId19"/>
    <p:sldId id="870" r:id="rId20"/>
    <p:sldId id="871" r:id="rId21"/>
    <p:sldId id="874" r:id="rId22"/>
    <p:sldId id="872" r:id="rId23"/>
    <p:sldId id="873" r:id="rId24"/>
    <p:sldId id="910" r:id="rId25"/>
    <p:sldId id="875" r:id="rId26"/>
    <p:sldId id="876" r:id="rId27"/>
    <p:sldId id="877" r:id="rId28"/>
    <p:sldId id="878" r:id="rId29"/>
    <p:sldId id="911" r:id="rId30"/>
    <p:sldId id="879" r:id="rId31"/>
    <p:sldId id="880" r:id="rId32"/>
    <p:sldId id="881" r:id="rId33"/>
    <p:sldId id="882" r:id="rId34"/>
    <p:sldId id="883" r:id="rId35"/>
    <p:sldId id="894" r:id="rId36"/>
    <p:sldId id="893" r:id="rId37"/>
    <p:sldId id="895" r:id="rId38"/>
    <p:sldId id="897" r:id="rId39"/>
    <p:sldId id="898" r:id="rId40"/>
    <p:sldId id="899" r:id="rId41"/>
    <p:sldId id="896" r:id="rId42"/>
    <p:sldId id="900" r:id="rId43"/>
    <p:sldId id="901" r:id="rId44"/>
    <p:sldId id="902" r:id="rId45"/>
    <p:sldId id="904" r:id="rId46"/>
    <p:sldId id="912" r:id="rId47"/>
    <p:sldId id="913" r:id="rId48"/>
  </p:sldIdLst>
  <p:sldSz cx="12192000" cy="6858000"/>
  <p:notesSz cx="6797675" cy="9926638"/>
  <p:embeddedFontLst>
    <p:embeddedFont>
      <p:font typeface="Pretendard Light" panose="020B0600000101010101" charset="-127"/>
      <p:regular r:id="rId51"/>
    </p:embeddedFont>
    <p:embeddedFont>
      <p:font typeface="Pretendard Variable Light" panose="020B0600000101010101" charset="-127"/>
      <p:regular r:id="rId52"/>
      <p:bold r:id="rId53"/>
    </p:embeddedFont>
    <p:embeddedFont>
      <p:font typeface="삼성긴고딕 Bold" panose="020B0600000101010101" charset="-127"/>
      <p:regular r:id="rId54"/>
      <p:bold r:id="rId55"/>
    </p:embeddedFont>
    <p:embeddedFont>
      <p:font typeface="삼성긴고딕 ExtraBold" panose="020B0600000101010101" charset="-127"/>
      <p:regular r:id="rId56"/>
      <p:bold r:id="rId57"/>
    </p:embeddedFont>
    <p:embeddedFont>
      <p:font typeface="삼성긴고딕 Medium" panose="020B0600000101010101" charset="-127"/>
      <p:regular r:id="rId58"/>
    </p:embeddedFont>
    <p:embeddedFont>
      <p:font typeface="삼성긴고딕 Regular" panose="020B0600000101010101" charset="-127"/>
      <p:regular r:id="rId59"/>
    </p:embeddedFont>
    <p:embeddedFont>
      <p:font typeface="Cambria Math" panose="02040503050406030204" pitchFamily="18" charset="0"/>
      <p:regular r:id="rId60"/>
    </p:embeddedFont>
    <p:embeddedFont>
      <p:font typeface="맑은 고딕" panose="020B0503020000020004" pitchFamily="50" charset="-127"/>
      <p:regular r:id="rId61"/>
      <p:bold r:id="rId62"/>
      <p:italic r:id="rId63"/>
      <p:boldItalic r:id="rId6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orient="horz" pos="133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orient="horz" pos="1017">
          <p15:clr>
            <a:srgbClr val="A4A3A4"/>
          </p15:clr>
        </p15:guide>
        <p15:guide id="5" orient="horz" pos="4156" userDrawn="1">
          <p15:clr>
            <a:srgbClr val="A4A3A4"/>
          </p15:clr>
        </p15:guide>
        <p15:guide id="6" pos="7401" userDrawn="1">
          <p15:clr>
            <a:srgbClr val="A4A3A4"/>
          </p15:clr>
        </p15:guide>
        <p15:guide id="7" pos="210">
          <p15:clr>
            <a:srgbClr val="A4A3A4"/>
          </p15:clr>
        </p15:guide>
        <p15:guide id="8" pos="7471">
          <p15:clr>
            <a:srgbClr val="A4A3A4"/>
          </p15:clr>
        </p15:guide>
        <p15:guide id="9" pos="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udent" initials="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5FC"/>
    <a:srgbClr val="1368CE"/>
    <a:srgbClr val="002060"/>
    <a:srgbClr val="4A72C5"/>
    <a:srgbClr val="E7F0F9"/>
    <a:srgbClr val="1BB1E6"/>
    <a:srgbClr val="FEFEFE"/>
    <a:srgbClr val="0542BB"/>
    <a:srgbClr val="0070C0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1" autoAdjust="0"/>
    <p:restoredTop sz="83227" autoAdjust="0"/>
  </p:normalViewPr>
  <p:slideViewPr>
    <p:cSldViewPr snapToGrid="0">
      <p:cViewPr varScale="1">
        <p:scale>
          <a:sx n="94" d="100"/>
          <a:sy n="94" d="100"/>
        </p:scale>
        <p:origin x="690" y="78"/>
      </p:cViewPr>
      <p:guideLst>
        <p:guide orient="horz" pos="2183"/>
        <p:guide orient="horz" pos="133"/>
        <p:guide orient="horz" pos="368"/>
        <p:guide orient="horz" pos="1017"/>
        <p:guide orient="horz" pos="4156"/>
        <p:guide pos="7401"/>
        <p:guide pos="210"/>
        <p:guide pos="7471"/>
        <p:guide pos="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084"/>
    </p:cViewPr>
  </p:sorterViewPr>
  <p:notesViewPr>
    <p:cSldViewPr snapToGrid="0">
      <p:cViewPr varScale="1">
        <p:scale>
          <a:sx n="79" d="100"/>
          <a:sy n="79" d="100"/>
        </p:scale>
        <p:origin x="318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3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font" Target="fonts/font1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handoutMaster" Target="handoutMasters/handoutMaster1.xml"/><Relationship Id="rId55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2C76A-DC4E-4724-9247-0840BF7C54DD}" type="datetimeFigureOut">
              <a:rPr lang="ko-KR" altLang="en-US" smtClean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2026-03-17</a:t>
            </a:fld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DB638-D11A-444F-8A28-1EA00921CAE0}" type="slidenum">
              <a:rPr lang="ko-KR" altLang="en-US" smtClean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‹#›</a:t>
            </a:fld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863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39B3D2F1-DDA5-437E-B8C4-4930D4EF112B}" type="datetimeFigureOut">
              <a:rPr lang="ko-KR" altLang="en-US" smtClean="0"/>
              <a:pPr/>
              <a:t>2026-03-17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6337BEBD-75DE-4F71-B27A-1FC8613557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39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A92D-3A83-6748-2AE3-34DEEA701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DC4EF-5BC4-6197-DE20-FF0491836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7289E-44BA-5BE3-9C2C-F1CB0128D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B6C02-9BCB-71D5-3D1D-9DA4329A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339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83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7CBC-DAC9-A823-69D9-55E7A4EC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B2A37A-D093-F832-2942-978344AAD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0A6B3-F15A-329A-97F8-D6E97186B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8101C3-9E05-D1EB-811F-7A841CC9E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480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AED3-6AC2-D6C0-77DA-24A20B9C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56DA1-6517-AE36-56FD-D41E4494C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1B5604-61D6-28AD-0F73-D41CEC86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92BCA4-8999-24B4-D86F-53844E0B9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119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0D75-6ED5-3D45-96AC-B13BB9EF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AE8F34-9346-79DE-9C99-DCF6D3339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161B8F-D45C-20AB-FE8C-B89C953AC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363C9-66A7-E4C1-E3E2-9E004928B0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093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80A1-1B46-1E34-4BD6-CFF73DA2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C90DA2-184A-0D9E-8656-D81316838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395DC1-A97C-145B-57A4-4C2830682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DAE48-E01D-5D1A-E03C-CB288023D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020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C53A-6F15-4463-EF8B-421DAD81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5BCC5D-4BCF-549C-7948-6198866AD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F874AE-DA0B-799B-8170-A069DDCA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ED3CF-3F1D-E656-4E63-7E49924FF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515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C731-F65B-DC84-AD10-39A48C07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C99979-C5CE-870A-01A8-DB76B48B2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425FE9-CC59-C1B1-7B71-414E820C8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DA1D13-DFC3-F925-449E-588467086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496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266A-07B1-9697-547E-38B7001B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A8F744-6B9D-AAA8-2371-76372F9BC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18CB4B-CAAB-BEF3-BDB8-F8BA4EE27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C20C6-A37E-F596-F287-B60C22121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75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BB7D-9199-933A-26FF-9BF5CC70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F256F4-2A32-B541-2297-1F47788C7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F99A06-0E3F-82CB-4AC5-1E678B987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3CD3C2-6509-AA2E-7648-70BC9E929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347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7511-2F2F-91D6-FC43-6ABD4C6B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006565-6029-ED38-7827-1F4E9CF62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6E9155-3152-A6B7-93FF-D99274EA2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31647-4254-CF21-C1FE-D714592A3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3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860A-D267-C5D4-9A80-C49DE592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B5A698-C55E-368F-854F-49BAC0C2D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8B757E-7469-5325-6038-41A66B1DF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최소제곱법 </a:t>
            </a:r>
            <a:r>
              <a:rPr lang="en-US" altLang="ko-KR"/>
              <a:t>: </a:t>
            </a:r>
            <a:r>
              <a:rPr lang="ko-KR" altLang="en-US"/>
              <a:t>다익스트라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MSE: </a:t>
            </a:r>
            <a:r>
              <a:rPr lang="ko-KR" altLang="en-US"/>
              <a:t>총 이동거리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11D36E-50C6-75E2-1D38-7612643E0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877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F738-1E5B-6C6C-2D0C-018D612B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2B7A3E-B08E-0F80-2BB0-9A7959DCF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D2E782-6982-6112-2585-3AAB77964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최소제곱법 </a:t>
            </a:r>
            <a:r>
              <a:rPr lang="en-US" altLang="ko-KR"/>
              <a:t>: </a:t>
            </a:r>
            <a:r>
              <a:rPr lang="ko-KR" altLang="en-US"/>
              <a:t>다익스트라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MSE: </a:t>
            </a:r>
            <a:r>
              <a:rPr lang="ko-KR" altLang="en-US"/>
              <a:t>총 이동거리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C27C1-693F-B7B8-5D36-B5C5B90736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088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39790-6A41-FDB6-6363-D153B53F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B873E7-6B61-8B56-5CB2-E665C1FEE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2C7AEB-D9CC-6F0A-732B-60DE2874F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B252A-6093-A2B1-1512-959245DF4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25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5743-E358-BEE1-BC2E-3A39F9F9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F8C6A1-82E6-9DBB-D02A-9ACB0B91C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57B9DA-2797-0CCA-12F5-72536E642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6EC45-AAF9-CF26-22C6-01A7C4FAF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7095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16B2-732D-9391-66AD-EBBA1EE8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CA600-FC43-77F1-AF03-501E0F913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9BA2D9-E4F3-0847-CCD2-EC5A9F35A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79157A-9CDE-3498-4D72-4DD44D11C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590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9CF4-625A-4682-8804-1AA9E006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FA56AE-5B1A-4FA3-CD1A-FEB161E3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A74DE-A58E-3E89-9250-645111F7D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0379B-EE55-18FD-0A04-951F6621A5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962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AE1F0-0F65-C2C6-E8BD-4A8055AD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C145E-128A-ECB0-1EC1-82EE1BE51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A7888C-08F1-20A4-C834-9C606E3E6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24886-69DD-5DFF-6DCB-92210A80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7126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7BEBD-75DE-4F71-B27A-1FC861355779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6295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54D2-D5C4-21F7-7ED4-2542F8F7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2720CD-DDD7-1D99-6C2B-7421F7598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7A6DF0-10D1-DBAF-3378-3E3B6E90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BE4E70-146D-A85A-1B4F-72C5A584A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006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1168-8C44-CD0C-66B5-6B99F7AE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DC094C-C0EF-33F1-260C-706542532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B6C880-A5A7-FA78-0104-301F7A89A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FBDEC-48E5-8C04-F1F6-88699AEE6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81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100D-D1D9-3732-CCC0-0621BD9B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A96508-492A-6598-E5DF-EE71B6F40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324A7-4783-573E-11CE-EEF24D6AD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55CD9-F3D0-86FA-99C9-50B0CDAFB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0081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59B5-96B5-6263-4829-14FC97E2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D987BB-B963-DED9-C2B3-9F01BAF49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1B7AFF-99CA-4B54-CEA2-87096EB3B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A6E81-A59F-8A7B-DC9D-324CB7CBB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2326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154D-E336-30D4-0D2A-0AE9D7A2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A895AF-D348-B8DB-90DC-72B077650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CAAF27-ACB7-5CFD-B762-A5B0E510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5027B-C57E-1D4E-AEFD-257E2A2C3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7053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DB60-BF7D-8009-9E18-18AC9CF2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920D23-3AD4-50E6-DC2B-6FA2941EF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A117B0-D717-D36B-C1DA-6FAF2014B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0C1A92-CCBF-A798-B349-83CB7E1EC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C203C-8AC2-422E-B636-0E6291ED862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710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515B-B6A1-9E96-9789-A9DCE1CD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C513E9-3C2B-38A5-1882-63BB93570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9F46A8-7A9C-F8EC-2AB8-778FFC28A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54A49-B1BC-5E8F-7E58-ECF8A82AEC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929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D752-2357-A00E-2BA9-7CE5358E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BC6F4-8120-A405-5192-CAA2D30C3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AA49AF-4798-7E7C-C8B4-6FE2FA0BB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73512-1391-F6B8-BE92-0EAC82A64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159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EAEA5-7880-B95A-6992-6D8D9830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E66DE-6AE4-8B66-8E83-8D0C73BC8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F5CD4-16C3-A0A1-DCAD-29CA64F5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E8C5F-454B-E025-0415-58AF7ECFB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8994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B2545-7E5C-9BDD-34C3-23B3B7BF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A2F86-CCA3-31DE-68C6-1A46DE010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CFE53-D1A8-DF83-14BA-1DD1E9454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38032-0129-B6D4-95CE-61CE6B0AB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8323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2637-F5F8-6A08-7312-345D56F1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D6EB9D-69EA-7974-DFC8-D1E60EC5A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9648F5-A945-2FE7-DBF5-AEAA4685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E71B12-2D19-3B62-D1D3-520A323D0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8111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7A71-2E0A-8475-EF55-622F64C1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350A6B-A809-03AC-C53D-B50D1E6E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86162F-E249-430A-77AD-0B59AF61D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9400B-58B1-3017-2242-B283FC5FA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7831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1D19-F213-93B2-D82C-B4339BD9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D3A0AE-A504-1045-5CBF-89EA1A704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F305AC-F795-5B06-686B-9179E8CC2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62FCD8-6B0D-9DE4-C985-58EFA1290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2836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443E-2CA1-9940-D179-C50BE36A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366149-0FD4-6D39-0F28-05B5BE3F3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CD5362-9699-41AF-5E1A-09D47801F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9B25B2-F37C-1844-7CEA-D85DC8266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9198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4AA6-835C-E1F8-4671-2F3F4E66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6B11D4-ED1A-D513-E35B-82A0FF211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6568D-21DF-DD2D-A862-8A21D7685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3E8792-29D7-8225-CD35-F24AA8A1F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729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0D7A-329A-7EDC-64B5-3A805570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68BF4A-F89F-2336-2A9D-B4AF59269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0B205C-21E6-A84E-12A0-07D8A7889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Pseudocode, </a:t>
            </a:r>
            <a:r>
              <a:rPr lang="ko-KR" altLang="en-US" dirty="0"/>
              <a:t>의사코드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C15BC-B006-9918-1BE5-03187A745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823E00-757A-4FD9-AAC8-FFAE49D56E5F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22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3B09F-E9DA-4C84-B79C-CD5C232C903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3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6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7DF60-65D1-49D8-8080-E5EC2744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993F1C-A873-433C-8E33-A2807E31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FE5CD7-DD89-41BD-A66F-2C33B4A7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673E23-A15F-4C12-8A79-4C2D5132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24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0B3B8-5DB2-44E4-BB84-ACFE776F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DBDB7F-A79B-417B-8752-D46DFDA8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5AA844-6C1F-4867-9B95-693B0B19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CC7B4A-E52E-407E-AF2E-592FC73F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519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051B6-064C-431D-AF95-4E0192CC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4125E9-947F-43E8-BB46-28786874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88F823-57FF-467D-B292-391B9C35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6302-772A-4996-A0CC-B1D2CC41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921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E39F3-1643-4C87-AC7E-1B291947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1F0D3F-4E38-4212-A74C-94B484CF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C4FA80-1E97-4C9B-906B-18FF212D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E1CBA3-4961-412D-97C4-816ED626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05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8C2ED-C228-4795-BB70-FED1ECF3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525D9A-3CEF-465F-BB1E-0CB05CF6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47BCB5-FBB0-43A5-8E95-C0FCEA82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C8871B-5519-498D-9E38-B0E15F38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71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C0BB34D-319A-4304-B893-564333085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/>
          <a:stretch/>
        </p:blipFill>
        <p:spPr>
          <a:xfrm>
            <a:off x="0" y="1373614"/>
            <a:ext cx="12240000" cy="412897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0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5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61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29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214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0073F-04C7-41D5-99CD-40F3DBEEEC13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367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283A-62A8-4827-92E4-1B590A93F3C4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066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EA9-C4BE-4913-B7C8-29B2886D2EB5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74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578A-FC16-4870-8F1D-615C9CCA3361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99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40E4-EC29-4B7B-B223-EB0E9740A432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386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128D-5686-42F9-96E6-1F34C336E56E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99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063B5-3536-4A85-AAC6-F9FA7CA3A56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96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8CB4-3B26-4BD5-8AED-546B6642F9E9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495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7D42-55E7-4230-A550-6FF21170876C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3353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5A187-0BA8-418D-999C-6849A2DF5AC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943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457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14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65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307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4370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0291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498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70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95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675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0" y="658278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212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247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5189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6166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93960" y="282059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2667" b="0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233334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801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772" y="367676"/>
            <a:ext cx="7724635" cy="1325563"/>
          </a:xfrm>
        </p:spPr>
        <p:txBody>
          <a:bodyPr>
            <a:normAutofit/>
          </a:bodyPr>
          <a:lstStyle>
            <a:lvl1pPr>
              <a:defRPr sz="5000" b="0" i="0"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Pretendard ExtraBold" panose="02000903000000020004" pitchFamily="2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C8E456A-D68E-168E-2DC0-9D985DFDDCE2}"/>
              </a:ext>
            </a:extLst>
          </p:cNvPr>
          <p:cNvSpPr/>
          <p:nvPr userDrawn="1"/>
        </p:nvSpPr>
        <p:spPr>
          <a:xfrm>
            <a:off x="3268095" y="875532"/>
            <a:ext cx="175236" cy="1752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삼성긴고딕 Regular" panose="020B0600000101010101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387DD5-9BF9-152C-8F79-DA5AD903B4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8771" y="2270039"/>
            <a:ext cx="7724635" cy="3868294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400">
                <a:latin typeface="삼성긴고딕 Regular" panose="020B0600000101010101" pitchFamily="50" charset="-127"/>
                <a:ea typeface="삼성긴고딕 Regular" panose="020B0600000101010101" pitchFamily="50" charset="-127"/>
                <a:cs typeface="Pretendard SemiBold" panose="02000703000000020004" pitchFamily="2" charset="-127"/>
              </a:defRPr>
            </a:lvl1pPr>
            <a:lvl2pPr marL="800100" indent="-342900">
              <a:buFont typeface="Pretendard Light" panose="02000403000000020004" pitchFamily="50" charset="-127"/>
              <a:buChar char="–"/>
              <a:defRPr sz="2000">
                <a:latin typeface="삼성긴고딕 Regular" panose="020B0600000101010101" pitchFamily="50" charset="-127"/>
                <a:ea typeface="삼성긴고딕 Regular" panose="020B0600000101010101" pitchFamily="50" charset="-127"/>
                <a:cs typeface="Pretendard Light" panose="02000403000000020004" pitchFamily="50" charset="-127"/>
              </a:defRPr>
            </a:lvl2pPr>
          </a:lstStyle>
          <a:p>
            <a:pPr lvl="0"/>
            <a:r>
              <a:rPr lang="ko-KR" altLang="en-US" dirty="0" err="1"/>
              <a:t>중제목</a:t>
            </a:r>
            <a:endParaRPr lang="en-US" altLang="ko-KR" dirty="0"/>
          </a:p>
          <a:p>
            <a:pPr lvl="1"/>
            <a:r>
              <a:rPr lang="ko-KR" altLang="en-US" dirty="0"/>
              <a:t>소제목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83EB96-3E49-0EC3-318B-D5D3D10E626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FA98BF8-3FF4-4FB9-8902-9C6CF58C6A2A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83737-EC48-D8ED-97DE-AA54F999A44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67F32-2506-7D84-2ECB-FA7A0C000A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8493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이어서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27A7A8-6A3B-FBF4-7354-1860CCA791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23306" y="2933041"/>
            <a:ext cx="5545388" cy="991917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>
                <a:solidFill>
                  <a:schemeClr val="tx1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삼성긴고딕 ExtraBold" panose="020B0600000101010101" pitchFamily="50" charset="-127"/>
              </a:defRPr>
            </a:lvl1pPr>
            <a:lvl2pPr marL="457200" indent="0">
              <a:buNone/>
              <a:defRPr sz="2200" b="0" i="0">
                <a:solidFill>
                  <a:schemeClr val="tx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err="1"/>
              <a:t>중주제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8992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943492F-8DAF-4453-AF39-4C96D3B33968}"/>
              </a:ext>
            </a:extLst>
          </p:cNvPr>
          <p:cNvCxnSpPr>
            <a:cxnSpLocks/>
          </p:cNvCxnSpPr>
          <p:nvPr userDrawn="1"/>
        </p:nvCxnSpPr>
        <p:spPr>
          <a:xfrm>
            <a:off x="8832304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67C035E-B4D7-4193-AA2D-468081993ECE}"/>
              </a:ext>
            </a:extLst>
          </p:cNvPr>
          <p:cNvCxnSpPr/>
          <p:nvPr userDrawn="1"/>
        </p:nvCxnSpPr>
        <p:spPr>
          <a:xfrm>
            <a:off x="-24680" y="3409950"/>
            <a:ext cx="3359696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</p:cxn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F0E5-B087-78B5-A2A2-EA6425B6E2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23306" y="3040312"/>
            <a:ext cx="5545388" cy="777377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Pretendard ExtraBold" panose="02000903000000020004" pitchFamily="2" charset="-127"/>
              </a:defRPr>
            </a:lvl1pPr>
            <a:lvl2pPr marL="457200" indent="0">
              <a:buNone/>
              <a:defRPr sz="2200" b="0" i="0">
                <a:solidFill>
                  <a:schemeClr val="tx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94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C0BB34D-319A-4304-B893-564333085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/>
          <a:stretch/>
        </p:blipFill>
        <p:spPr>
          <a:xfrm>
            <a:off x="-5155" y="1364511"/>
            <a:ext cx="12240000" cy="412897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61" y="385433"/>
            <a:ext cx="1879200" cy="463380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25E5B1-D2CB-4018-8C95-E794FA9A5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4876" y="2917995"/>
            <a:ext cx="6439937" cy="10220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0" b="0" i="0"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Pretendard ExtraBold" panose="02000903000000020004" pitchFamily="2" charset="-127"/>
              </a:defRPr>
            </a:lvl1pPr>
          </a:lstStyle>
          <a:p>
            <a:r>
              <a:rPr lang="en-US" altLang="ko-KR"/>
              <a:t>TITLE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292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09605" y="124934"/>
            <a:ext cx="8269485" cy="553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ko-KR" altLang="en-US" sz="3200" b="1" spc="0" baseline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삼성긴고딕 Regular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8D8852-99F2-A286-097E-FFFDE69C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6E50-A2A5-403F-8797-2475E291EF3D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D823B-D248-0528-7F50-62597B30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C362E-A3E8-C5BD-99BD-F392EA66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79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92D9A5C2-52AE-4417-BE07-52F1A0620754}" type="datetime1">
              <a:rPr lang="ko-KR" altLang="en-US" smtClean="0"/>
              <a:t>2026-03-17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481A59E1-85F6-4F08-BE94-CC14AB7773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52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32" r:id="rId2"/>
    <p:sldLayoutId id="2147483843" r:id="rId3"/>
    <p:sldLayoutId id="2147483844" r:id="rId4"/>
    <p:sldLayoutId id="2147483845" r:id="rId5"/>
    <p:sldLayoutId id="2147483846" r:id="rId6"/>
    <p:sldLayoutId id="2147483842" r:id="rId7"/>
    <p:sldLayoutId id="2147483833" r:id="rId8"/>
    <p:sldLayoutId id="2147483834" r:id="rId9"/>
    <p:sldLayoutId id="2147483835" r:id="rId10"/>
    <p:sldLayoutId id="2147483836" r:id="rId11"/>
    <p:sldLayoutId id="2147483811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  <p:sldLayoutId id="2147483809" r:id="rId23"/>
    <p:sldLayoutId id="2147483810" r:id="rId24"/>
    <p:sldLayoutId id="2147483786" r:id="rId25"/>
    <p:sldLayoutId id="2147483787" r:id="rId26"/>
    <p:sldLayoutId id="2147483741" r:id="rId27"/>
    <p:sldLayoutId id="2147483736" r:id="rId28"/>
    <p:sldLayoutId id="2147483737" r:id="rId29"/>
    <p:sldLayoutId id="2147483738" r:id="rId30"/>
    <p:sldLayoutId id="2147483805" r:id="rId31"/>
    <p:sldLayoutId id="2147483770" r:id="rId32"/>
    <p:sldLayoutId id="2147483771" r:id="rId33"/>
    <p:sldLayoutId id="2147483677" r:id="rId34"/>
    <p:sldLayoutId id="2147483678" r:id="rId35"/>
    <p:sldLayoutId id="2147483680" r:id="rId36"/>
    <p:sldLayoutId id="2147483681" r:id="rId37"/>
    <p:sldLayoutId id="2147483831" r:id="rId38"/>
    <p:sldLayoutId id="2147483837" r:id="rId39"/>
    <p:sldLayoutId id="2147483838" r:id="rId40"/>
    <p:sldLayoutId id="2147483839" r:id="rId41"/>
    <p:sldLayoutId id="2147483840" r:id="rId42"/>
    <p:sldLayoutId id="2147483841" r:id="rId4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삼성긴고딕 Bold" panose="020B0600000101010101" pitchFamily="50" charset="-127"/>
          <a:ea typeface="삼성긴고딕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맑은 고딕" panose="020B0604020202020204" pitchFamily="34" charset="0"/>
        <a:buChar char="•"/>
        <a:defRPr sz="2800" kern="1200">
          <a:solidFill>
            <a:schemeClr val="tx1"/>
          </a:solidFill>
          <a:latin typeface="삼성긴고딕 Bold" panose="020B0600000101010101" pitchFamily="50" charset="-127"/>
          <a:ea typeface="삼성긴고딕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4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0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삼성긴고딕 Medium" panose="020B0600000101010101" pitchFamily="50" charset="-127"/>
          <a:ea typeface="삼성긴고딕 Medium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9F8D8-FF4A-4861-939E-456BB5D6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917995"/>
            <a:ext cx="8686800" cy="1022010"/>
          </a:xfrm>
        </p:spPr>
        <p:txBody>
          <a:bodyPr/>
          <a:lstStyle/>
          <a:p>
            <a:r>
              <a:rPr lang="en-US" altLang="ko-KR" sz="6600">
                <a:ea typeface="삼성긴고딕 ExtraBold"/>
              </a:rPr>
              <a:t>2. </a:t>
            </a:r>
            <a:r>
              <a:rPr lang="ko-KR" altLang="en-US" sz="6600">
                <a:ea typeface="삼성긴고딕 ExtraBold"/>
              </a:rPr>
              <a:t>선형 회귀 모델</a:t>
            </a:r>
            <a:endParaRPr lang="en-US" altLang="ko-KR" sz="6600" dirty="0">
              <a:ea typeface="삼성긴고딕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7232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4F75-380A-EEDB-6965-282EAC15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8C48E-C867-89F7-A898-E9F4CB01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8772" y="367676"/>
            <a:ext cx="7724635" cy="1325563"/>
          </a:xfrm>
        </p:spPr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4AAEAB-E432-63F9-26FF-5692EBD285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08771" y="1693240"/>
            <a:ext cx="7724635" cy="47970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머신 러닝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/>
              <a:t>데이터 전처리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선형 회귀</a:t>
            </a:r>
            <a:endParaRPr lang="en-US" altLang="ko-KR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정규 방정식</a:t>
            </a:r>
            <a:endParaRPr lang="en-US" altLang="ko-KR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/>
              <a:t>경사 하강법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ko-KR" altLang="en-US"/>
              <a:t>로지스틱 회귀</a:t>
            </a: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/>
              <a:t>과적합과 정규화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F07F8-CACB-4AE0-79ED-D3D06F5790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03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21"/>
    </mc:Choice>
    <mc:Fallback xmlns="">
      <p:transition spd="slow" advTm="119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CCD3A5-C393-D28A-95CF-E0EDBCE2A3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머신러닝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74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Artificial Intelligence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인간의 학습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추론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지각 능력 등을 컴퓨터를 통해 구현하는 가장 포괄적인 분야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최종 목표는 기계가 사람처럼 보고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듣고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말하고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생각하게 만드는 것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구현하는 두 가지 접근법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규칙 기반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전문가의 지식과 규칙을 사람이 직접 컴퓨터에 코드로 입력하는 방식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한계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세상의 모든 규칙을 만들 수 없고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예외 상황에 대처하기 어려움 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기반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컴퓨터에게 데이터를 주고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 데이터 안에서 규칙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패턴</a:t>
            </a:r>
            <a:r>
              <a:rPr kumimoji="1" lang="en-US" altLang="ko-KR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스스로 배우게 하는 방식</a:t>
            </a:r>
            <a:endParaRPr kumimoji="1" lang="en-US" altLang="ko-KR" sz="16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현대 </a:t>
            </a:r>
            <a:r>
              <a:rPr kumimoji="1" lang="en-US" altLang="ko-KR" sz="16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</a:t>
            </a:r>
            <a:r>
              <a:rPr kumimoji="1" lang="ko-KR" altLang="en-US" sz="16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핵심 동력이며</a:t>
            </a:r>
            <a:r>
              <a:rPr kumimoji="1" lang="en-US" altLang="ko-KR" sz="16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우리가 배울 분야 </a:t>
            </a:r>
            <a:endParaRPr kumimoji="1" lang="en-US" altLang="ko-KR" sz="1600" spc="-150">
              <a:solidFill>
                <a:srgbClr val="1368C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95F83-BF17-5937-A7C1-17ACE6CA6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970" y="1393337"/>
            <a:ext cx="2198478" cy="4503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1FB37F-52DB-F5BE-04DD-A0A9A1B20C97}"/>
              </a:ext>
            </a:extLst>
          </p:cNvPr>
          <p:cNvSpPr txBox="1"/>
          <p:nvPr/>
        </p:nvSpPr>
        <p:spPr>
          <a:xfrm>
            <a:off x="534239" y="6447621"/>
            <a:ext cx="609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https://www.yna.co.kr/view/AKR20140609093300091</a:t>
            </a:r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A118-8C9F-A597-668D-0564B512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1FB7CD0A-FD39-734B-76F6-7249E4DD3690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19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컴퓨터에게 데이터를 주고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 데이터 안에서 규칙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패턴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</a:t>
            </a:r>
            <a:b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스스로 학습하게 하는 방식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종류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(Supervised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정답지가 있는 데이터를 학습시키는 방법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의료 진단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스팸 필터링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주가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/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부동산 가격 예측 등에 활용 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비지도 학습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(Unsupervised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정답이 없는 데이터의 숨겨진 구조나 규칙을 찾는 방법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추천 시스템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 거래 탐지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고객 세분화 등에 활용 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강화 학습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(reinforcement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 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벌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통해서 최적의 행동 방식을 학습하는 방법 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알파고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로봇 제어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자율 주행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게임 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등에 활용 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일반적으로 비지도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-&gt;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-&gt;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강화 학습으로 복합적인 학습으로 결과물 생성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ADEADDD-4D70-9D34-169B-74F08784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D06B3B-7589-BE0F-4D94-7A5F9B35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792B8-3D84-A007-92EA-C9AC80AB4766}"/>
              </a:ext>
            </a:extLst>
          </p:cNvPr>
          <p:cNvSpPr txBox="1"/>
          <p:nvPr/>
        </p:nvSpPr>
        <p:spPr>
          <a:xfrm>
            <a:off x="426720" y="654339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https://www.mathworks.com/discovery/unsupervised-learning.html</a:t>
            </a:r>
            <a:endParaRPr lang="ko-KR" altLang="en-US" sz="10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0B5B6C-51C2-5258-BB8C-9A34C3AD8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641" y="2420487"/>
            <a:ext cx="3892694" cy="14460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9F7A1B-3B80-B1B1-E9A8-8234BDE23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761" y="882386"/>
            <a:ext cx="3821574" cy="1424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AA9B63-039F-186A-A06D-0734AFAC8125}"/>
              </a:ext>
            </a:extLst>
          </p:cNvPr>
          <p:cNvSpPr txBox="1"/>
          <p:nvPr/>
        </p:nvSpPr>
        <p:spPr>
          <a:xfrm>
            <a:off x="426720" y="6360831"/>
            <a:ext cx="737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https://www.mathworks.com/discovery/supervised-learning.html?s_tid=srchtitle_site_search_1_supervised+learning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9902D1E-8950-7625-B5DE-F697CFC44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656" y="3954845"/>
            <a:ext cx="3154680" cy="23504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3603EA-118D-C7C7-D972-AE7EB27E8865}"/>
              </a:ext>
            </a:extLst>
          </p:cNvPr>
          <p:cNvSpPr txBox="1"/>
          <p:nvPr/>
        </p:nvSpPr>
        <p:spPr>
          <a:xfrm>
            <a:off x="4444347" y="654339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https://marutitech.com/businesses-reinforcement-learning/</a:t>
            </a:r>
          </a:p>
        </p:txBody>
      </p:sp>
    </p:spTree>
    <p:extLst>
      <p:ext uri="{BB962C8B-B14F-4D97-AF65-F5344CB8AC3E}">
        <p14:creationId xmlns:p14="http://schemas.microsoft.com/office/powerpoint/2010/main" val="689663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8298-FB16-96ED-1655-F3897973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EEDE884-7AB1-53A9-C24C-A5F169173D95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19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컴퓨터에게 데이터를 주고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 데이터 안에서 규칙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패턴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</a:t>
            </a:r>
            <a:b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스스로 학습하게 하는 방식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종류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(Supervised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정답지가 있는 데이터를 학습시키는 방법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의료 진단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스팸 필터링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주가</a:t>
            </a:r>
            <a:r>
              <a:rPr kumimoji="1" lang="en-US" altLang="ko-KR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/</a:t>
            </a:r>
            <a:r>
              <a:rPr kumimoji="1" lang="ko-KR" altLang="en-US" sz="14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부동산 가격 예측 등에 활용 </a:t>
            </a:r>
            <a:endParaRPr kumimoji="1" lang="en-US" altLang="ko-KR" sz="14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비지도 학습</a:t>
            </a:r>
            <a:r>
              <a:rPr kumimoji="1" lang="en-US" altLang="ko-KR" sz="1600" b="1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(Unsupervised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정답이 없는 데이터의 숨겨진 구조나 규칙을 찾는 방법</a:t>
            </a:r>
            <a:endParaRPr kumimoji="1" lang="en-US" altLang="ko-KR" sz="14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추천 시스템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 거래 탐지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고객 세분화 등에 활용 </a:t>
            </a:r>
            <a:endParaRPr kumimoji="1" lang="en-US" altLang="ko-KR" sz="14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강화 학습</a:t>
            </a:r>
            <a:r>
              <a:rPr kumimoji="1" lang="en-US" altLang="ko-KR" sz="1600" b="1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(reinforcement Learning)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 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벌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통해서 최적의 행동 방식을 학습하는 방법 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알파고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로봇 제어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자율 주행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게임 </a:t>
            </a:r>
            <a:r>
              <a:rPr kumimoji="1" lang="en-US" altLang="ko-KR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AI </a:t>
            </a:r>
            <a:r>
              <a:rPr kumimoji="1" lang="ko-KR" altLang="en-US" sz="14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등에 활용 </a:t>
            </a:r>
            <a:endParaRPr kumimoji="1" lang="en-US" altLang="ko-KR" sz="14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일반적으로 비지도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-&gt;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-&gt;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강화 학습으로 복합적인 학습으로 결과물 생성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FD00A74-F2BB-1848-2515-A6D65F78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C2C721-D6B2-F94A-2F2C-1AEED200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2E754-DFCF-B7AF-CB23-930DD0DFFE91}"/>
              </a:ext>
            </a:extLst>
          </p:cNvPr>
          <p:cNvSpPr txBox="1"/>
          <p:nvPr/>
        </p:nvSpPr>
        <p:spPr>
          <a:xfrm>
            <a:off x="426720" y="654339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https://www.mathworks.com/discovery/unsupervised-learning.html</a:t>
            </a:r>
            <a:endParaRPr lang="ko-KR" altLang="en-US" sz="10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B57A30-3964-D030-B76F-D506A9F3B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641" y="2420487"/>
            <a:ext cx="3892694" cy="14460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BBAB33E-30E5-BCC3-2FEB-EC23C3115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761" y="882386"/>
            <a:ext cx="3821574" cy="1424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457329-D756-058D-0F3E-AF111D596956}"/>
              </a:ext>
            </a:extLst>
          </p:cNvPr>
          <p:cNvSpPr txBox="1"/>
          <p:nvPr/>
        </p:nvSpPr>
        <p:spPr>
          <a:xfrm>
            <a:off x="426720" y="6360831"/>
            <a:ext cx="737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https://www.mathworks.com/discovery/supervised-learning.html?s_tid=srchtitle_site_search_1_supervised+learning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6FF692F-FA10-0BED-7596-535A49C273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656" y="3954845"/>
            <a:ext cx="3154680" cy="23504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631688-B246-B270-953D-5DD4FD3FDB4F}"/>
              </a:ext>
            </a:extLst>
          </p:cNvPr>
          <p:cNvSpPr txBox="1"/>
          <p:nvPr/>
        </p:nvSpPr>
        <p:spPr>
          <a:xfrm>
            <a:off x="4444347" y="654339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https://marutitech.com/businesses-reinforcement-learning/</a:t>
            </a:r>
          </a:p>
        </p:txBody>
      </p:sp>
    </p:spTree>
    <p:extLst>
      <p:ext uri="{BB962C8B-B14F-4D97-AF65-F5344CB8AC3E}">
        <p14:creationId xmlns:p14="http://schemas.microsoft.com/office/powerpoint/2010/main" val="49696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454E-AE67-9FC6-6339-98D75CF8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83C886E2-69B9-0AEE-8E08-F2E56E52739B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(Supervised Learning)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레이블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Label)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있는 데이터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피쳐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Feature)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학습시키는 방법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우리가 맞춰야  할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따라 두 가지의 큰 유형으로 나뉨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 유형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(Regression)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연속적인 숫자 값을 예측하는 문제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기반으로 학습한  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Feature”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예측하는 것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공부한 시간에 따른 시험 점수 예측하기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(Classification)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주어진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어떤 그룹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카테고리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속하는 지 예측하는 문제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메일의 내용을 보고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스팸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‘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정상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 판단하기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4239B77-942D-3AE4-6218-12B9FA59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430EF43-6E72-ECD7-6C71-EB1767AB1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996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1D69-6D74-89C5-C280-EE54DF0B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E524B7E-8888-62D8-1D3C-5F15C093CA6A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(Supervised Learning)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레이블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Label)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있는 데이터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피쳐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Feature)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학습시키는 방법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우리가 맞춰야  할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따라 두 가지의 큰 유형으로 나뉨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 유형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(Regression)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=&gt;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 문제를 푸는 가장 기본적이면서 강력한 도구가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연속적인 숫자 값을 예측하는 문제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기반으로 학습한  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Feature”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예측하는 것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공부한 시간에 따른 시험 점수 예측하기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</a:t>
            </a:r>
            <a:r>
              <a:rPr kumimoji="1" lang="en-US" altLang="ko-KR" sz="18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(Classification)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주어진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어떤 그룹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카테고리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속하는 지 예측하는 문제</a:t>
            </a:r>
            <a:endParaRPr kumimoji="1" lang="en-US" altLang="ko-KR" sz="16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메일의 내용을 보고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스팸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‘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정상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 판단하기</a:t>
            </a:r>
            <a:endParaRPr kumimoji="1" lang="en-US" altLang="ko-KR" sz="16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E52BD81-CC14-AE33-7FA8-E877FD3D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3818F8-645B-EAA1-1ABD-6BB6FBA2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33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CCD3A5-C393-D28A-95CF-E0EDBCE2A3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데이터 전처리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74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특성(Feature) 종류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연속형 변수(Continuous Variable)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숫자가 연속적인 스펙트럼을 이루며 실수 형태로 측정되는 특성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예시: 키(cm), 몸무게(kg), 가격(USD), 시험 점수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전처리: 표준화(Standardization), 정규화(Normalization) 등으로 스케일 조정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범주형 변수(Categorical Variable)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유한 개의 범주 또는 등급으로 구분되는 특성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명목형(Nominal): 성별, 혈액형, 색상 (순서 없음)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순서형(Ordinal): 만족도, 학위 등급 (순서 있음)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전처리: 원-핫 인코딩(One-Hot Encoding), 순서형 인코딩 등으로 숫자화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 모델은 연속형 변수만 직접 입력으로 사용할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데이터 전처리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표준화(Standardization)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분포를 평균 0, 표준편차 1이 되도록 변환하는 전처리 기법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수식: Z = (x - μ) / σ  (μ: 평균, σ: 표준편차)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왜 표준화가 필요한가?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스케일 차이 해소: 서로 다른 단위를 가진 특성들을 동등하게 비교 가능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예) carat(0~5)과 price(326~18,823)의 스케일 차이가 크면 학습이 불안정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속도 향상: 경사 하강법이 더 빠르고 안정적으로 수렴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수치 안정성: 매우 큰 값으로 인한 계산 오류 방지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주의: 표준화 파라미터(μ, σ)는 반드시 학습(Train) 데이터로만 계산해야 함!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데이터 전처리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7202" y="779583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 분리 (Train / Validation / Test)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일반화 성능을 올바르게 평가하기 위해 데이터를 세 부분으로 나눔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Train(학습) 데이터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실제로 학습(파라미터 업데이트)하는 데이터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데이터의 약 70~80%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Validation(검증) 데이터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중 모델 성능을 모니터링하고 하이퍼파라미터를 조정하는 데이터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데이터의 약 10~15%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Test(평가) 데이터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최종 모델의 성능을 최종 평가하는 데이터 (학습에 절대 사용 금지!)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데이터의 약 10~15%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왜 나눠야 할까?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데이터만으로 평가하면 "공부한 문제를 다시 푸는 것"과 같아 실제 성능을 알 수 없음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데이터(실전)에서도 잘 작동하는지 확인하기 위함 =&gt; 일반화(Generalization)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데이터 전처리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Data Leakage(데이터 누수)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 학습에 사용되어서는 안 되는 정보가 학습 과정에 유입되는 현상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성능은 좋지만 실전(Test)에서 성능이 뚝 떨어지는 원인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가장 흔한 실수: 표준화 파라미터를 전체 데이터로 계산하기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❌ 잘못된 방법: 전체 데이터(Train+Test)의 평균/표준편차로 표준화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✅ 올바른 방법: Train 데이터의 평균/표준편차만 계산 → Test 데이터에 동일하게 적용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이유: Test 데이터의 통계 정보가 학습에 흘러들어오면, 실전에서 볼 수 없는 "답지"를 미리 본 셈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또 다른 예시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미래 데이터로 과거를 예측 (시계열에서 흔히 발생)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Target(정답)과 직접 연관된 변수를 Feature로 사용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데이터 전처리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0A18-C093-AACE-F63D-E3F1ADF4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54060CF-5826-3F82-841E-C11E260F8DA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선형 회귀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0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3949-81CE-995A-1862-524EFFA3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7FBDBFB7-5AEE-AB49-5390-346A324E48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605" y="1014045"/>
                <a:ext cx="11577595" cy="50044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맑은 고딕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삼성긴고딕 Bold" panose="020B0600000101010101" pitchFamily="50" charset="-127"/>
                    <a:ea typeface="삼성긴고딕 Bold" panose="020B0600000101010101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6706" indent="-266706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  <a:buBlip>
                    <a:blip r:embed="rId3"/>
                  </a:buBlip>
                </a:pPr>
                <a:r>
                  <a:rPr kumimoji="1" lang="ko-KR" altLang="en-US" sz="24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선형 회귀</a:t>
                </a:r>
                <a:r>
                  <a:rPr kumimoji="1" lang="en-US" altLang="ko-KR" sz="24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(linear regression)</a:t>
                </a: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예측을 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“</a:t>
                </a:r>
                <a:r>
                  <a:rPr kumimoji="1" lang="ko-KR" altLang="en-US" sz="2000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하나의 직선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”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으로 하는 가장 간단하고 직관적인 방법 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다차원일 경우에는 평면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/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초평면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</a:t>
                </a: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단순 선형 회귀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 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하나의 특성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(Feature)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만 있을 때</a:t>
                </a:r>
                <a:endParaRPr kumimoji="1" lang="en-US" altLang="ko-KR" sz="20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공부한 시간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(x)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에 따른 시험 점수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(y)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예측</a:t>
                </a:r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14:m>
                  <m:oMath xmlns:m="http://schemas.openxmlformats.org/officeDocument/2006/math"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𝑦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=</m:t>
                    </m:r>
                    <m:r>
                      <a:rPr kumimoji="1" lang="en-US" altLang="ko-KR" sz="1800" b="0" i="1" spc="-15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𝑤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𝑥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+</m:t>
                    </m:r>
                    <m:r>
                      <a:rPr kumimoji="1" lang="en-US" altLang="ko-KR" sz="1800" b="0" i="1" spc="-150" smtClean="0">
                        <a:solidFill>
                          <a:srgbClr val="0C45FC"/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𝑏</m:t>
                    </m:r>
                  </m:oMath>
                </a14:m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en-US" altLang="ko-KR" sz="1800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w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(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가중치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, Weight):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직선의 기울기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.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공부 시간이 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1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시간 늘 때 점수가 몇 점 오르는지를 나타냄</a:t>
                </a:r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en-US" altLang="ko-KR" sz="1800" spc="-150">
                    <a:solidFill>
                      <a:srgbClr val="0C45FC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b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(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편향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, Bias): y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절편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.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공부를 하나도 안 했을 때의 기본 점수를 의미</a:t>
                </a:r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 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다중 선형 회귀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 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여러 특성이 있을 때</a:t>
                </a:r>
                <a:endParaRPr kumimoji="1" lang="en-US" altLang="ko-KR" sz="20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캐럿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(x</a:t>
                </a:r>
                <a:r>
                  <a:rPr kumimoji="1" lang="en-US" altLang="ko-KR" sz="1800" spc="-150" baseline="-25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1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),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투명도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(x</a:t>
                </a:r>
                <a:r>
                  <a:rPr kumimoji="1" lang="en-US" altLang="ko-KR" sz="1800" spc="-150" baseline="-25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2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),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깊이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(x</a:t>
                </a:r>
                <a:r>
                  <a:rPr kumimoji="1" lang="en-US" altLang="ko-KR" sz="1800" spc="-150" baseline="-25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3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 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를 모두 고려한 다이아몬드 가격</a:t>
                </a:r>
                <a:r>
                  <a:rPr kumimoji="1" lang="en-US" altLang="ko-KR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(y)</a:t>
                </a:r>
                <a:r>
                  <a:rPr kumimoji="1" lang="ko-KR" altLang="en-US" sz="18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예측 </a:t>
                </a:r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14:m>
                  <m:oMath xmlns:m="http://schemas.openxmlformats.org/officeDocument/2006/math"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𝑦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=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𝑤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1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𝑥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1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+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𝑤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2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𝑦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2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+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𝑤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3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𝑦</m:t>
                    </m:r>
                    <m:r>
                      <a:rPr kumimoji="1" lang="en-US" altLang="ko-KR" sz="1800" b="0" i="1" spc="-150" baseline="-2500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3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+  … +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𝑏</m:t>
                    </m:r>
                    <m:r>
                      <a:rPr kumimoji="1" lang="en-US" altLang="ko-KR" sz="1800" b="0" i="1" spc="-15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 </m:t>
                    </m:r>
                  </m:oMath>
                </a14:m>
                <a:endParaRPr kumimoji="1" lang="en-US" altLang="ko-KR" sz="18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2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각각 의 특성에 대한 최적의 </a:t>
                </a:r>
                <a:r>
                  <a:rPr kumimoji="1" lang="ko-KR" altLang="en-US" sz="1600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가중치</a:t>
                </a: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와 </a:t>
                </a:r>
                <a:r>
                  <a:rPr kumimoji="1" lang="ko-KR" altLang="en-US" sz="1600" spc="-150">
                    <a:solidFill>
                      <a:srgbClr val="0C45FC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편향</a:t>
                </a: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을 찾는 것이 목표</a:t>
                </a:r>
                <a:endParaRPr kumimoji="1" lang="en-US" altLang="ko-KR" sz="16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endParaRPr kumimoji="1" lang="en-US" altLang="ko-KR" sz="1200" spc="-150"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7FBDBFB7-5AEE-AB49-5390-346A324E4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5" y="1014045"/>
                <a:ext cx="11577595" cy="50044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1784337-24C4-D58A-5DD9-219C4B0F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30DD82-5D65-D25F-5F47-B6AD8AFA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1EB68-4F2C-C7A4-F86B-1C971EAAE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633" y="2017046"/>
            <a:ext cx="2937386" cy="2360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CF01B8-E088-2526-9949-C3EBA43BEDE6}"/>
              </a:ext>
            </a:extLst>
          </p:cNvPr>
          <p:cNvSpPr txBox="1"/>
          <p:nvPr/>
        </p:nvSpPr>
        <p:spPr>
          <a:xfrm>
            <a:off x="670560" y="641580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https://joshuajangblog.wordpress.com/2016/08/24/python-linear-regression/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0D7C28F-26AE-BCFD-8EB5-C9B5E9689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945" y="4256026"/>
            <a:ext cx="2450450" cy="188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7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62104-61A9-B132-8C4B-FE5BE437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F882064-ADE3-D202-49A5-BFBBBF1BC3A9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2276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가설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(Hypothesis)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우리가 예측에 사용할 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직선의 방정식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)”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지칭하는 용어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그러면 어떤 가설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좋은 가설일까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 </a:t>
            </a:r>
            <a:r>
              <a:rPr kumimoji="1" lang="ko-KR" altLang="en-US" sz="1800" b="1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들과의 거리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rgbClr val="00B05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가장 작은 직선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값은 어떻게 구할까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A7314E7-729C-082F-BEDE-B6595255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96A4C1-03EB-D5B3-91D0-AB7CBF7A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DAD93-37CC-A418-1611-0E1130461542}"/>
              </a:ext>
            </a:extLst>
          </p:cNvPr>
          <p:cNvSpPr txBox="1"/>
          <p:nvPr/>
        </p:nvSpPr>
        <p:spPr>
          <a:xfrm>
            <a:off x="6454987" y="640572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https://joshuajangblog.wordpress.com/2016/08/24/python-linear-regression/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5A194A-0420-9C05-9BFF-8E08A53C7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161" y="1504948"/>
            <a:ext cx="2937386" cy="236061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A410E8-91CC-DD5D-8BA8-185156B0F3B2}"/>
              </a:ext>
            </a:extLst>
          </p:cNvPr>
          <p:cNvSpPr/>
          <p:nvPr/>
        </p:nvSpPr>
        <p:spPr>
          <a:xfrm rot="19424232">
            <a:off x="8297782" y="2515822"/>
            <a:ext cx="2654302" cy="25630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C2552-3B69-0517-3046-3FB7BF1420EC}"/>
              </a:ext>
            </a:extLst>
          </p:cNvPr>
          <p:cNvSpPr txBox="1"/>
          <p:nvPr/>
        </p:nvSpPr>
        <p:spPr>
          <a:xfrm>
            <a:off x="10858730" y="1189533"/>
            <a:ext cx="1177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>
                <a:solidFill>
                  <a:srgbClr val="C00000"/>
                </a:solidFill>
              </a:rPr>
              <a:t>가설</a:t>
            </a:r>
            <a:endParaRPr lang="en-US" altLang="ko-KR" sz="2400" b="1">
              <a:solidFill>
                <a:srgbClr val="C00000"/>
              </a:solidFill>
            </a:endParaRPr>
          </a:p>
          <a:p>
            <a:r>
              <a:rPr lang="en-US" altLang="ko-KR" sz="2400" b="1">
                <a:solidFill>
                  <a:srgbClr val="C00000"/>
                </a:solidFill>
              </a:rPr>
              <a:t>= </a:t>
            </a:r>
            <a:r>
              <a:rPr lang="ko-KR" altLang="en-US" sz="2400" b="1">
                <a:solidFill>
                  <a:srgbClr val="C00000"/>
                </a:solidFill>
              </a:rPr>
              <a:t>모델</a:t>
            </a:r>
            <a:endParaRPr lang="en-US" altLang="ko-KR" sz="2400" b="1">
              <a:solidFill>
                <a:srgbClr val="C00000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348B712-9C33-D6B0-5BC8-8D22D95F7008}"/>
              </a:ext>
            </a:extLst>
          </p:cNvPr>
          <p:cNvSpPr txBox="1">
            <a:spLocks/>
          </p:cNvSpPr>
          <p:nvPr/>
        </p:nvSpPr>
        <p:spPr>
          <a:xfrm>
            <a:off x="307202" y="3392459"/>
            <a:ext cx="1157759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 함수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(Cost Function)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가설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얼마나 좋은 모델인지 나타내는 점수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(like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시간복잡도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엄연히 다르긴 하지만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손실 함수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(loss function)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라고도 함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 함수 종류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16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(MSE, Mean Squared Error)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절대 오차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(MAE, Mean Absolute Error)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교차 엔트로피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…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C3208D2-EF46-2987-ADED-C1A4C0E7BA38}"/>
              </a:ext>
            </a:extLst>
          </p:cNvPr>
          <p:cNvCxnSpPr/>
          <p:nvPr/>
        </p:nvCxnSpPr>
        <p:spPr>
          <a:xfrm>
            <a:off x="9170126" y="2969623"/>
            <a:ext cx="0" cy="42283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411D7D74-A6B7-137A-19C9-620160278BA8}"/>
              </a:ext>
            </a:extLst>
          </p:cNvPr>
          <p:cNvSpPr/>
          <p:nvPr/>
        </p:nvSpPr>
        <p:spPr>
          <a:xfrm>
            <a:off x="9135292" y="2934789"/>
            <a:ext cx="69668" cy="69668"/>
          </a:xfrm>
          <a:prstGeom prst="ellipse">
            <a:avLst/>
          </a:prstGeom>
          <a:solidFill>
            <a:srgbClr val="FFC00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361F69-E9DF-523C-72D2-BD1318F1F0C2}"/>
              </a:ext>
            </a:extLst>
          </p:cNvPr>
          <p:cNvSpPr txBox="1"/>
          <p:nvPr/>
        </p:nvSpPr>
        <p:spPr>
          <a:xfrm>
            <a:off x="8351520" y="4099864"/>
            <a:ext cx="325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B050"/>
                </a:solidFill>
              </a:rPr>
              <a:t>오차</a:t>
            </a:r>
            <a:r>
              <a:rPr lang="en-US" altLang="ko-KR"/>
              <a:t>(</a:t>
            </a:r>
            <a:r>
              <a:rPr lang="ko-KR" altLang="en-US"/>
              <a:t>예측값과 실제값의 차이</a:t>
            </a:r>
            <a:r>
              <a:rPr lang="en-US" altLang="ko-KR"/>
              <a:t>)</a:t>
            </a:r>
            <a:endParaRPr lang="ko-KR" altLang="en-US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5AF23F1-B854-E72F-2AB5-CC5DF5CBD530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9108106" y="3226837"/>
            <a:ext cx="935046" cy="811007"/>
          </a:xfrm>
          <a:prstGeom prst="bentConnector3">
            <a:avLst>
              <a:gd name="adj1" fmla="val 1570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22B5386-A981-5C88-FFE6-5907A528D517}"/>
              </a:ext>
            </a:extLst>
          </p:cNvPr>
          <p:cNvSpPr txBox="1"/>
          <p:nvPr/>
        </p:nvSpPr>
        <p:spPr>
          <a:xfrm>
            <a:off x="8531286" y="253544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chemeClr val="accent4">
                    <a:lumMod val="75000"/>
                  </a:schemeClr>
                </a:solidFill>
              </a:rPr>
              <a:t>예측값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8BF53B-DD0A-EE7F-F715-78620E96F8C5}"/>
              </a:ext>
            </a:extLst>
          </p:cNvPr>
          <p:cNvSpPr txBox="1"/>
          <p:nvPr/>
        </p:nvSpPr>
        <p:spPr>
          <a:xfrm>
            <a:off x="9141350" y="32533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0C45FC"/>
                </a:solidFill>
              </a:rPr>
              <a:t>실제값</a:t>
            </a:r>
          </a:p>
        </p:txBody>
      </p:sp>
    </p:spTree>
    <p:extLst>
      <p:ext uri="{BB962C8B-B14F-4D97-AF65-F5344CB8AC3E}">
        <p14:creationId xmlns:p14="http://schemas.microsoft.com/office/powerpoint/2010/main" val="1687462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860E-F0A1-4EFE-40F8-BC7D29DA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E53807B5-9889-D892-6682-45EF211B0895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817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(MSE, Mean Squared Error) 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예측값이 실제 정답과 얼마나 차이 나는지 측정하는 방법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점수가 낮을수록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성능이 좋다는 의미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계산 방법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데이터들의 실제값과 예측값의 차이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구한다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데이터들의 오차를 모두 제곱하여 양수로 만들고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더하기</a:t>
            </a:r>
            <a:b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제곱하는 이유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양수 오차와 음수 오차의 상쇄 막기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큰 오차에 페널티 부여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제곱 총합을 데이터 개수로 나누어 평균을 구함 </a:t>
            </a:r>
            <a:b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BE99D1-8F4B-F746-03F8-9E77732C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804BA9-D1B5-04D8-0BF1-2884CEE2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554DA-1B1D-5668-35BC-8916C211A66B}"/>
              </a:ext>
            </a:extLst>
          </p:cNvPr>
          <p:cNvSpPr txBox="1"/>
          <p:nvPr/>
        </p:nvSpPr>
        <p:spPr>
          <a:xfrm>
            <a:off x="670560" y="641580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https://curriculum.cosadama.com/machine-learning/3-2/</a:t>
            </a:r>
            <a:endParaRPr lang="ko-KR" altLang="en-US" sz="10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6F3884D-2308-8B95-CC96-DD7220179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42" y="1756969"/>
            <a:ext cx="3415916" cy="25581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010BBDD-8C6C-4C5A-2734-3D361E7E4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8704" y="4968701"/>
            <a:ext cx="2276190" cy="8285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655D7A5-DF3D-3762-2FB4-637B7FFFC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77547"/>
            <a:ext cx="2063332" cy="18108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A6C775-05A1-E378-5E83-6E8ED443AB9B}"/>
              </a:ext>
            </a:extLst>
          </p:cNvPr>
          <p:cNvSpPr txBox="1"/>
          <p:nvPr/>
        </p:nvSpPr>
        <p:spPr>
          <a:xfrm>
            <a:off x="6624964" y="6261912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MSE</a:t>
            </a:r>
            <a:r>
              <a:rPr lang="ko-KR" altLang="en-US" sz="1200" b="1"/>
              <a:t> 그래프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0A851-5EE2-2D6A-A190-670437466006}"/>
              </a:ext>
            </a:extLst>
          </p:cNvPr>
          <p:cNvSpPr txBox="1"/>
          <p:nvPr/>
        </p:nvSpPr>
        <p:spPr>
          <a:xfrm>
            <a:off x="670560" y="6178892"/>
            <a:ext cx="609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https://bigdaheta.tistory.com/85</a:t>
            </a:r>
          </a:p>
        </p:txBody>
      </p:sp>
    </p:spTree>
    <p:extLst>
      <p:ext uri="{BB962C8B-B14F-4D97-AF65-F5344CB8AC3E}">
        <p14:creationId xmlns:p14="http://schemas.microsoft.com/office/powerpoint/2010/main" val="18501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FDBF-81F5-8763-0E12-0D594925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3CAC425-0B5E-FFB4-71F6-2C168C8812DF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(MSE, Mean Squared Error) 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시험 성적 예측 모델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60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B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2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70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 </a:t>
            </a: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3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우리의 예측 모델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점수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* 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 시간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+ 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45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 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15(</a:t>
            </a:r>
            <a:r>
              <a:rPr kumimoji="1" lang="ko-KR" altLang="en-US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가중치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w)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45(</a:t>
            </a:r>
            <a:r>
              <a:rPr kumimoji="1" lang="ko-KR" altLang="en-US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편향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b)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임의의 초기값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1 + 45 = 60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(60)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(60) = 0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2 + 45 = 75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(70)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(75) = (-5)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3 + 45 = 90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(90)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(90) = 0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오차를 제곱하여 더한 뒤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수로 나누기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( 0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+ (-5)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+ 0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/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(3) = 25 / 3 = 8.33… 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 baseline="3000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 baseline="3000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0000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결국 우리의 목표는 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MSE 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점수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가장 가깝게 만드는 최적의 모델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en-US" altLang="ko-KR" b="1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w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</a:t>
            </a:r>
            <a:r>
              <a:rPr kumimoji="1" lang="ko-KR" altLang="en-US" b="1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b="1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찾는 것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!!!!!!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FF790D9-D150-2D91-3B4F-A9039889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7EA626-17A3-3BAE-DF99-51A36812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239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7C73-2E95-1597-8A84-716BA33C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05EDF0F-6BE6-0228-0B7D-F1FF298481FD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(MSE, Mean Squared Error) 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시험 성적 예측 모델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60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B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2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70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 </a:t>
            </a: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3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90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우리의 예측 모델</a:t>
            </a:r>
            <a:r>
              <a:rPr kumimoji="1" lang="en-US" altLang="ko-KR" sz="18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점수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* 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 시간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+ 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45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 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15(</a:t>
            </a:r>
            <a:r>
              <a:rPr kumimoji="1" lang="ko-KR" altLang="en-US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가중치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w)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45(</a:t>
            </a:r>
            <a:r>
              <a:rPr kumimoji="1" lang="ko-KR" altLang="en-US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편향</a:t>
            </a:r>
            <a:r>
              <a:rPr kumimoji="1" lang="en-US" altLang="ko-KR" sz="18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b)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임의의 초기값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1 + 45 = 60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(60)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(60) = 0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2 + 45 = 75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(70)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(75) = (-5)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15 * 3 + 45 = 90 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오차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(90) –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(90) = 0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각 오차를 제곱하여 더한 뒤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수로 나누기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( 0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+ (-5)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+ 0</a:t>
            </a:r>
            <a:r>
              <a:rPr kumimoji="1" lang="en-US" altLang="ko-KR" sz="1800" spc="-150" baseline="3000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/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(3) = 25 / 3 = 8.33… 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 baseline="3000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 baseline="3000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FF0000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결국 우리의 목표는 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MSE 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점수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가장 가깝게 만드는 최적의 모델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en-US" altLang="ko-KR" b="1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w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</a:t>
            </a:r>
            <a:r>
              <a:rPr kumimoji="1" lang="ko-KR" altLang="en-US" b="1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b="1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en-US" altLang="ko-KR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찾는 것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!!!!!!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80C3698-D210-7604-5D0C-F8FBE58C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F56D8E-C066-9A36-4951-FAE4B3B9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38580B-C13E-7EDB-A993-B45D3BFEF913}"/>
              </a:ext>
            </a:extLst>
          </p:cNvPr>
          <p:cNvSpPr/>
          <p:nvPr/>
        </p:nvSpPr>
        <p:spPr>
          <a:xfrm>
            <a:off x="3352800" y="5111931"/>
            <a:ext cx="4940300" cy="4180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F18C2-2D9D-65EC-B304-D7353AD4DD6E}"/>
              </a:ext>
            </a:extLst>
          </p:cNvPr>
          <p:cNvSpPr txBox="1"/>
          <p:nvPr/>
        </p:nvSpPr>
        <p:spPr>
          <a:xfrm>
            <a:off x="3352800" y="5659289"/>
            <a:ext cx="6846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/>
              <a:t>=&gt; </a:t>
            </a:r>
            <a:r>
              <a:rPr lang="ko-KR" altLang="en-US" sz="2000"/>
              <a:t>이 원리가 </a:t>
            </a:r>
            <a:r>
              <a:rPr lang="ko-KR" altLang="en-US" sz="2000" b="1">
                <a:solidFill>
                  <a:srgbClr val="FF0000"/>
                </a:solidFill>
              </a:rPr>
              <a:t>최소제곱법</a:t>
            </a:r>
            <a:r>
              <a:rPr lang="en-US" altLang="ko-KR" sz="2000"/>
              <a:t>(MLS, Method of Least Squares)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3890368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9A6F-1BA1-C893-C611-3D171737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5680B3EC-7452-806E-D2DE-869A53DF28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605" y="1014045"/>
                <a:ext cx="11577595" cy="4810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맑은 고딕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삼성긴고딕 Bold" panose="020B0600000101010101" pitchFamily="50" charset="-127"/>
                    <a:ea typeface="삼성긴고딕 Bold" panose="020B0600000101010101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삼성긴고딕 Medium" panose="020B0600000101010101" pitchFamily="50" charset="-127"/>
                    <a:ea typeface="삼성긴고딕 Medium" panose="020B0600000101010101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맑은 고딕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6706" indent="-266706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  <a:buBlip>
                    <a:blip r:embed="rId3"/>
                  </a:buBlip>
                </a:pPr>
                <a:r>
                  <a:rPr kumimoji="1" lang="ko-KR" altLang="en-US" sz="24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최소 제곱법</a:t>
                </a:r>
                <a:r>
                  <a:rPr kumimoji="1" lang="en-US" altLang="ko-KR" sz="24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(MLS, Method of Least Squares)</a:t>
                </a: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예측 모델</a:t>
                </a:r>
                <a:r>
                  <a:rPr kumimoji="1" lang="en-US" altLang="ko-KR" sz="20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000" i="1" spc="-1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𝑦</m:t>
                    </m:r>
                    <m:r>
                      <a:rPr kumimoji="1" lang="en-US" altLang="ko-KR" sz="2000" i="1" spc="-1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=</m:t>
                    </m:r>
                    <m:r>
                      <a:rPr kumimoji="1" lang="en-US" altLang="ko-KR" sz="2000" i="1" spc="-15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𝑤</m:t>
                    </m:r>
                    <m:r>
                      <a:rPr kumimoji="1" lang="en-US" altLang="ko-KR" sz="2000" i="1" spc="-1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𝑥</m:t>
                    </m:r>
                    <m:r>
                      <a:rPr kumimoji="1" lang="en-US" altLang="ko-KR" sz="2000" i="1" spc="-1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+</m:t>
                    </m:r>
                    <m:r>
                      <a:rPr kumimoji="1" lang="en-US" altLang="ko-KR" sz="2000" i="1" spc="-150">
                        <a:solidFill>
                          <a:srgbClr val="0C45FC"/>
                        </a:solidFill>
                        <a:latin typeface="Cambria Math" panose="02040503050406030204" pitchFamily="18" charset="0"/>
                        <a:ea typeface="삼성긴고딕 Regular" panose="020B0600000101010101" pitchFamily="50" charset="-127"/>
                      </a:rPr>
                      <m:t>𝑏</m:t>
                    </m:r>
                  </m:oMath>
                </a14:m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에서 </a:t>
                </a:r>
                <a:r>
                  <a:rPr kumimoji="1" lang="ko-KR" altLang="en-US" sz="2000" u="sng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비용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을 최소화하는 </a:t>
                </a:r>
                <a:r>
                  <a:rPr kumimoji="1" lang="en-US" altLang="ko-KR" sz="2000" b="1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w(</a:t>
                </a:r>
                <a:r>
                  <a:rPr kumimoji="1" lang="ko-KR" altLang="en-US" sz="2000" b="1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가중치</a:t>
                </a:r>
                <a:r>
                  <a:rPr kumimoji="1" lang="en-US" altLang="ko-KR" sz="2000" b="1" spc="-150">
                    <a:solidFill>
                      <a:srgbClr val="C00000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</a:t>
                </a:r>
                <a:r>
                  <a:rPr kumimoji="1" lang="en-US" altLang="ko-KR" sz="20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 </a:t>
                </a:r>
                <a:r>
                  <a:rPr kumimoji="1" lang="ko-KR" altLang="en-US" sz="20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와 </a:t>
                </a:r>
                <a:r>
                  <a:rPr kumimoji="1" lang="en-US" altLang="ko-KR" sz="2000" b="1" spc="-150">
                    <a:solidFill>
                      <a:srgbClr val="0C45FC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b(</a:t>
                </a:r>
                <a:r>
                  <a:rPr kumimoji="1" lang="ko-KR" altLang="en-US" sz="2000" b="1" spc="-150">
                    <a:solidFill>
                      <a:srgbClr val="0C45FC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편향</a:t>
                </a:r>
                <a:r>
                  <a:rPr kumimoji="1" lang="en-US" altLang="ko-KR" sz="2000" b="1" spc="-150">
                    <a:solidFill>
                      <a:srgbClr val="0C45FC"/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)</a:t>
                </a:r>
                <a:r>
                  <a:rPr kumimoji="1" lang="ko-KR" altLang="en-US" sz="2000" spc="-150"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을 찾는 원리</a:t>
                </a:r>
                <a:endParaRPr kumimoji="1" lang="en-US" altLang="ko-KR" sz="2000" spc="-150"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그러면 비용을 어떻게 최소화해서 최적의 모델을 찾을까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?</a:t>
                </a: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최적의 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w 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와 </a:t>
                </a:r>
                <a:r>
                  <a:rPr kumimoji="1" lang="en-US" altLang="ko-KR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b </a:t>
                </a:r>
                <a:r>
                  <a:rPr kumimoji="1" lang="ko-KR" altLang="en-US" sz="20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를 찾는 방법</a:t>
                </a:r>
                <a:endParaRPr kumimoji="1" lang="en-US" altLang="ko-KR" sz="20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marL="1371600" lvl="2" indent="-457200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  <a:buFont typeface="+mj-lt"/>
                  <a:buAutoNum type="arabicPeriod"/>
                </a:pPr>
                <a:r>
                  <a:rPr kumimoji="1" lang="ko-KR" altLang="en-US" sz="18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정규 방정식</a:t>
                </a:r>
                <a:r>
                  <a:rPr kumimoji="1" lang="en-US" altLang="ko-KR" sz="1800" b="1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(Normal Equation)</a:t>
                </a:r>
              </a:p>
              <a:p>
                <a:pPr lvl="3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복잡한 미분 방정식을 풀어서 한 번에 정답을 계산해내는 방법</a:t>
                </a:r>
                <a:endParaRPr kumimoji="1" lang="en-US" altLang="ko-KR" sz="16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3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만들어진 수학공식을 이용해</a:t>
                </a:r>
                <a:r>
                  <a:rPr kumimoji="1" lang="en-US" altLang="ko-KR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, </a:t>
                </a:r>
                <a:r>
                  <a:rPr kumimoji="1" lang="ko-KR" altLang="en-US" sz="1600" spc="-15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최적의 파라미터를 한 번에 계산 </a:t>
                </a:r>
                <a:endParaRPr kumimoji="1" lang="en-US" altLang="ko-KR" sz="1600" spc="-150">
                  <a:solidFill>
                    <a:schemeClr val="tx1">
                      <a:lumMod val="85000"/>
                      <a:lumOff val="15000"/>
                    </a:schemeClr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marL="1371600" lvl="2" indent="-457200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  <a:buFont typeface="+mj-lt"/>
                  <a:buAutoNum type="arabicPeriod"/>
                </a:pPr>
                <a:r>
                  <a:rPr kumimoji="1" lang="ko-KR" altLang="en-US" sz="1800" b="1" spc="-150"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경사 하강법</a:t>
                </a:r>
                <a:r>
                  <a:rPr kumimoji="1" lang="en-US" altLang="ko-KR" sz="1800" b="1" spc="-150"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(Gradient Descent)</a:t>
                </a:r>
              </a:p>
              <a:p>
                <a:pPr lvl="3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600" spc="-150"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최적의 파라미터를 점진적으로 찾아 나가는 방법</a:t>
                </a:r>
                <a:endParaRPr kumimoji="1" lang="en-US" altLang="ko-KR" sz="1600" spc="-150"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3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r>
                  <a:rPr kumimoji="1" lang="ko-KR" altLang="en-US" sz="1600" spc="-150">
                    <a:latin typeface="삼성긴고딕 Regular" panose="020B0600000101010101" pitchFamily="50" charset="-127"/>
                    <a:ea typeface="삼성긴고딕 Regular" panose="020B0600000101010101" pitchFamily="50" charset="-127"/>
                  </a:rPr>
                  <a:t>대부분의 모델이 이 방식을 채택 </a:t>
                </a:r>
                <a:endParaRPr kumimoji="1" lang="en-US" altLang="ko-KR" sz="1600" spc="-150"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  <a:p>
                <a:pPr lvl="1" fontAlgn="base" latinLnBrk="0">
                  <a:lnSpc>
                    <a:spcPct val="12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rgbClr val="7F7F7F"/>
                  </a:buClr>
                  <a:buSzPct val="95000"/>
                </a:pPr>
                <a:endParaRPr kumimoji="1" lang="en-US" altLang="ko-KR" b="1" spc="-150">
                  <a:latin typeface="삼성긴고딕 Regular" panose="020B0600000101010101" pitchFamily="50" charset="-127"/>
                  <a:ea typeface="삼성긴고딕 Regular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5680B3EC-7452-806E-D2DE-869A53DF2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5" y="1014045"/>
                <a:ext cx="11577595" cy="48105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820CD08-F984-37FF-8D5E-C99B2920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A90EA8-146C-97DC-C9FE-E45442E0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C94C1-6A4B-89C6-5618-9E3053CEF979}"/>
              </a:ext>
            </a:extLst>
          </p:cNvPr>
          <p:cNvSpPr txBox="1"/>
          <p:nvPr/>
        </p:nvSpPr>
        <p:spPr>
          <a:xfrm>
            <a:off x="8511348" y="1446667"/>
            <a:ext cx="3231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* </a:t>
            </a:r>
            <a:r>
              <a:rPr lang="ko-KR" altLang="en-US" sz="1400" b="1"/>
              <a:t>비용은 최소 제곱 오차</a:t>
            </a:r>
            <a:r>
              <a:rPr lang="en-US" altLang="ko-KR" sz="1400" b="1"/>
              <a:t>(MSE)</a:t>
            </a:r>
            <a:r>
              <a:rPr lang="ko-KR" altLang="en-US" sz="1400" b="1"/>
              <a:t>를 채택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BF9E81-4A40-9F1F-028B-FA6FE4396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468" y="2629378"/>
            <a:ext cx="2063332" cy="1810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3E65-DE1A-1C8A-8511-D254ECC9983B}"/>
              </a:ext>
            </a:extLst>
          </p:cNvPr>
          <p:cNvSpPr txBox="1"/>
          <p:nvPr/>
        </p:nvSpPr>
        <p:spPr>
          <a:xfrm>
            <a:off x="9819432" y="4413743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MSE</a:t>
            </a:r>
            <a:r>
              <a:rPr lang="ko-KR" altLang="en-US" sz="1200" b="1"/>
              <a:t> 그래프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00D0B-D8CB-677A-147F-23ECB4E93A56}"/>
              </a:ext>
            </a:extLst>
          </p:cNvPr>
          <p:cNvSpPr txBox="1"/>
          <p:nvPr/>
        </p:nvSpPr>
        <p:spPr>
          <a:xfrm>
            <a:off x="4033011" y="1431475"/>
            <a:ext cx="297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/>
              <a:t>*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1F08809-FD42-DB87-36B8-D8563CF83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610" y="1800807"/>
            <a:ext cx="2276190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1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학습(Training) 사이클 요약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머신러닝 학습은 아래 4단계를 반복하며 모델이 점점 정확해지는 과정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1. Forward(예측): 현재 파라미터(w, b)로 예측값 계산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직선 공식(예측값 = 가중치 × 입력 + 편향)을 이용해 각 데이터의 정답을 예측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2. Loss(손실 계산): 예측값과 실제값의 차이를 점수로 수치화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점수가 낮을수록 좋음 → 회귀: MSE(평균 제곱 오차), 분류: BCE(이진 교차 엔트로피)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3. Backward(기울기 계산): 손실이 줄어드는 방향(경사면 내리막)의 기울기 계산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현재 위치에서 가장 가파르게 내려가는 방향 = 경사 하강법의 핵심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4. Update(파라미터 업데이트): 기울기 반대 방향으로 파라미터 조정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 파라미터 = 기존 파라미터 - 학습률(α) × 기울기  →  한 걸음 내려가기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사이클을 수천~수만 번 반복하면서 손실이 점차 줄어들고, 모델이 최적 파라미터에 수렴함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선형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8AF3-64A3-7855-0473-5D41AF8C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ED48BF-85D3-9F9B-B3BA-4F89858A8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정규 방정식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612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E8B1-5C4B-AA6D-E7CC-E73E0C12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238C271-955F-1CEE-1CDD-E6E3F81AE2EE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정규 방정식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복잡한 미분 방정식을 풀어서 한 번에 정답을 계산해내는 방법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만들어진 수학공식을 이용해</a:t>
            </a:r>
            <a:r>
              <a:rPr kumimoji="1" lang="en-US" altLang="ko-KR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최적의 파라미터를 한 번에 계산</a:t>
            </a: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θ (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세타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):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찾으려는 최종 목표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가중치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(W)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편향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(b)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담고 있는 결과값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X: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입력 데이터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(feature)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행렬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y: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맞춰야 할 정답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레이블</a:t>
            </a:r>
            <a:r>
              <a:rPr kumimoji="1" lang="en-US" altLang="ko-KR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벡터</a:t>
            </a:r>
            <a:endParaRPr kumimoji="1" lang="en-US" altLang="ko-KR" sz="1800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시험 성적 예측 모델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A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60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B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2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70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 </a:t>
            </a: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학생 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3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시간 공부해서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점수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= 15 * 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 시간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+ 43.33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3E7220-174F-AEB7-14C6-B069EA6D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정규 방정식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BA56FB-60A1-4ABC-B9E8-DA51C5F7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AE2BCC-A39D-FE6C-A8D0-474BBBD0F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925" y="2470849"/>
            <a:ext cx="3323809" cy="84761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C433FD0-3C71-3783-D8FB-4677BFF87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518" y="5060959"/>
            <a:ext cx="2485714" cy="10095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F71CC3E-482D-1103-F38E-9E7B52E2D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317" y="5089530"/>
            <a:ext cx="1323810" cy="9523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6C4EA5D-343F-AB53-CED2-9FE09D826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2275" y="5012894"/>
            <a:ext cx="1038095" cy="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28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1E12-6E97-BE4C-31A2-1CF07325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8147CF3-808F-E126-5F51-7A56CB1AF8FD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정규 방정식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장점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특성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(feature)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적을 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빠르고 정확하게 해를 찾음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추가 설정이 필요없음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단점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특성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(feature)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많으면 속도가 매우 느려짐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역행렬이 존재하지 않으면 계산할 수 없음</a:t>
            </a:r>
            <a:endParaRPr kumimoji="1" lang="en-US" altLang="ko-KR" sz="16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역행렬 계산 시 미세한 오차로 인해 계산 결과가 완전히 틀어질 수 있음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이런 역행렬이 존재하지 않으면 계산할 수 없는 문제는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특이값 분해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(SVD)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로 해결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특이값 분해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(SVD)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역행렬이 없는 행렬을 역행렬이 있는 가장 유사한 행렬을 만들어내는 것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깊은 내용이니 진행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X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16B1E18-AC35-9788-01F7-43CAAEF7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정규 방정식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B6434B-F69F-B85C-D4D2-2FD66ED5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EE0B343-AB82-BE17-D8BB-87C9F2156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793" y="1496636"/>
            <a:ext cx="3331577" cy="8496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B10371C-6A42-429C-E8F0-70C23D7A2020}"/>
              </a:ext>
            </a:extLst>
          </p:cNvPr>
          <p:cNvSpPr/>
          <p:nvPr/>
        </p:nvSpPr>
        <p:spPr>
          <a:xfrm>
            <a:off x="9473528" y="1590062"/>
            <a:ext cx="3437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402B1-1B69-139B-7C28-FA545B443AB8}"/>
              </a:ext>
            </a:extLst>
          </p:cNvPr>
          <p:cNvSpPr txBox="1"/>
          <p:nvPr/>
        </p:nvSpPr>
        <p:spPr>
          <a:xfrm>
            <a:off x="9378658" y="12207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역행렬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71DF5E-7104-4C04-0618-DAC44301EABB}"/>
              </a:ext>
            </a:extLst>
          </p:cNvPr>
          <p:cNvSpPr/>
          <p:nvPr/>
        </p:nvSpPr>
        <p:spPr>
          <a:xfrm>
            <a:off x="8721970" y="1580014"/>
            <a:ext cx="292881" cy="369332"/>
          </a:xfrm>
          <a:prstGeom prst="rect">
            <a:avLst/>
          </a:prstGeom>
          <a:noFill/>
          <a:ln w="28575">
            <a:solidFill>
              <a:srgbClr val="0C45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0CA4D-C5F7-54D2-37E9-DCF68F97E4E4}"/>
              </a:ext>
            </a:extLst>
          </p:cNvPr>
          <p:cNvSpPr txBox="1"/>
          <p:nvPr/>
        </p:nvSpPr>
        <p:spPr>
          <a:xfrm>
            <a:off x="8545244" y="12055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전치</a:t>
            </a:r>
          </a:p>
        </p:txBody>
      </p:sp>
    </p:spTree>
    <p:extLst>
      <p:ext uri="{BB962C8B-B14F-4D97-AF65-F5344CB8AC3E}">
        <p14:creationId xmlns:p14="http://schemas.microsoft.com/office/powerpoint/2010/main" val="67230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B72B-A3B3-14CD-20C8-13B0551E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6FF5B8-A4F1-EF83-6B23-5D279EEB0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경사 하강법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7935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하이퍼파라미터(Hyperparameter)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학습을 통해 스스로 찾는 값이 아닌, 사람이 직접 설정해야 하는 값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파라미터(Parameter) vs 하이퍼파라미터(Hyperparameter)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파라미터: 학습을 통해 모델이 스스로 최적값을 찾음 (예: 가중치 w, 편향 b)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하이퍼파라미터: 사람이 직접 설정해줘야 하며, 실험을 통해 최적값을 탐색함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주요 하이퍼파라미터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학습률(Learning Rate, α): 한 번에 얼마나 크게 파라미터를 이동할지 결정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에포크(Epochs): 전체 데이터를 몇 번 반복 학습할지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배치 크기(Batch Size): 한 번에 몇 개의 데이터로 기울기를 계산할지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허용 오차(Tolerance, tol): 조기 종료를 위한 손실 감소 임계값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하이퍼파라미터 튜닝(Hyperparameter Tuning)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정해진 정답은 없음 — 데이터와 모델에 따라 실험적으로 최적값을 찾아야 함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격자 탐색(Grid Search), 랜덤 탐색(Random Search) 등의 방법 사용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머신러닝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13FA-6A6D-560A-FC00-DFA28BB1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1F2E15C-A8A5-AED0-8AC5-4ADD67E6C805}"/>
              </a:ext>
            </a:extLst>
          </p:cNvPr>
          <p:cNvSpPr txBox="1">
            <a:spLocks/>
          </p:cNvSpPr>
          <p:nvPr/>
        </p:nvSpPr>
        <p:spPr>
          <a:xfrm>
            <a:off x="309606" y="1014045"/>
            <a:ext cx="8583186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(Gradient Descent)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최적의 파라미터를 점진적으로 찾아 나가는 방법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 함수의 기울기가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되는 지점이 가장 </a:t>
            </a:r>
            <a:r>
              <a:rPr kumimoji="1" lang="ko-KR" altLang="en-US" sz="2000" u="sng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낮은 지점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과정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랜덤한 지점에서 시작해서 현재 지점의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구한다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해당 기울기만큼 움직인다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움직이는 보폭을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</a:t>
            </a:r>
            <a:r>
              <a:rPr kumimoji="1" lang="en-US" altLang="ko-KR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(Learning Rate)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라고 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이동한 위치에서 다시 경사를 확인하고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학습률만큼 이동한다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위 과정을 계속 반복하면서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가장 낮은 지점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도달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v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457200" lvl="1" indent="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None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F2B672-C002-DD8D-B16D-BEAC626F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경사 하강법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0B23B6-3D33-5952-761C-F11F0329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3841E-7DB9-E60C-CB40-DDC8B6A9F560}"/>
              </a:ext>
            </a:extLst>
          </p:cNvPr>
          <p:cNvSpPr txBox="1"/>
          <p:nvPr/>
        </p:nvSpPr>
        <p:spPr>
          <a:xfrm>
            <a:off x="534239" y="6415801"/>
            <a:ext cx="609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https://m.blog.naver.com/sqlmvp/221855713144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28C40-76E7-E3C3-0EB0-5DD220D98D5B}"/>
              </a:ext>
            </a:extLst>
          </p:cNvPr>
          <p:cNvSpPr txBox="1"/>
          <p:nvPr/>
        </p:nvSpPr>
        <p:spPr>
          <a:xfrm>
            <a:off x="5477260" y="1835175"/>
            <a:ext cx="3231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C45FC"/>
                </a:solidFill>
              </a:rPr>
              <a:t>* </a:t>
            </a:r>
            <a:r>
              <a:rPr lang="ko-KR" altLang="en-US" sz="1400" b="1">
                <a:solidFill>
                  <a:srgbClr val="0C45FC"/>
                </a:solidFill>
              </a:rPr>
              <a:t>비용은 최소 제곱 오차</a:t>
            </a:r>
            <a:r>
              <a:rPr lang="en-US" altLang="ko-KR" sz="1400" b="1">
                <a:solidFill>
                  <a:srgbClr val="0C45FC"/>
                </a:solidFill>
              </a:rPr>
              <a:t>(MSE)</a:t>
            </a:r>
            <a:r>
              <a:rPr lang="ko-KR" altLang="en-US" sz="1400" b="1">
                <a:solidFill>
                  <a:srgbClr val="0C45FC"/>
                </a:solidFill>
              </a:rPr>
              <a:t>를 채택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BA06A2-0A06-5D7D-C83A-0D15C7513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756" y="5101900"/>
            <a:ext cx="5142857" cy="10666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954AE3A-37D7-99E1-AA1E-2D6E28A59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615" y="4871914"/>
            <a:ext cx="5057143" cy="13142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710EA8-419C-5FA8-BF56-F4F1C5F9EA3A}"/>
              </a:ext>
            </a:extLst>
          </p:cNvPr>
          <p:cNvSpPr txBox="1"/>
          <p:nvPr/>
        </p:nvSpPr>
        <p:spPr>
          <a:xfrm>
            <a:off x="9628648" y="1756099"/>
            <a:ext cx="1925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[</a:t>
            </a:r>
            <a:r>
              <a:rPr lang="ko-KR" altLang="en-US" sz="1200" b="1"/>
              <a:t>참고</a:t>
            </a:r>
            <a:r>
              <a:rPr lang="en-US" altLang="ko-KR" sz="1200" b="1"/>
              <a:t>]</a:t>
            </a:r>
            <a:r>
              <a:rPr lang="ko-KR" altLang="en-US" sz="1200" b="1"/>
              <a:t>기울기 구하는 방법</a:t>
            </a:r>
            <a:endParaRPr lang="en-US" altLang="ko-KR" sz="1200" b="1"/>
          </a:p>
          <a:p>
            <a:endParaRPr lang="ko-KR" altLang="en-US" sz="12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8862B39-564A-50E1-22B5-B0D519D0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317" y="2049106"/>
            <a:ext cx="2276190" cy="828571"/>
          </a:xfrm>
          <a:prstGeom prst="rect">
            <a:avLst/>
          </a:prstGeom>
        </p:spPr>
      </p:pic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E81DC54A-1911-01DA-6D2E-ACE6FA14DAD1}"/>
              </a:ext>
            </a:extLst>
          </p:cNvPr>
          <p:cNvSpPr/>
          <p:nvPr/>
        </p:nvSpPr>
        <p:spPr>
          <a:xfrm>
            <a:off x="10377626" y="2946196"/>
            <a:ext cx="602901" cy="8285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미분</a:t>
            </a:r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781BD2F-E061-F4F0-E5F9-3B13C38E8F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8648" y="3911804"/>
            <a:ext cx="2100859" cy="66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80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0D4A-3F09-852C-63DB-A5E02E80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7A4F18A-33A1-9B95-540A-544D3E794B2E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250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(Gradient Descent)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기울기만큼 이동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할 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반대 방향으로 이동함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음수 기울기면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양수 방향으로 이동해야 함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 설정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학습률이 너무 크면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보폭이 너무 커서 반대편으로 올라갈 수 있음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발산</a:t>
            </a:r>
            <a:r>
              <a:rPr kumimoji="1" lang="en-US" altLang="ko-KR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overshooting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학습률이 너무 작으면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너무 오래 걸림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지역 극솟값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(local minima)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문제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시작 위치가 랜덤이기 때문에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Global minimu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아닌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local minimum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빠질 수 있음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492BCB1-54F2-D8B9-B6E3-60018A5F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경사 하강법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45F11B2-F1A4-C6B3-605F-09852BA4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7E258-5E16-BC68-7081-3C0EDC5B5AF7}"/>
              </a:ext>
            </a:extLst>
          </p:cNvPr>
          <p:cNvSpPr txBox="1"/>
          <p:nvPr/>
        </p:nvSpPr>
        <p:spPr>
          <a:xfrm>
            <a:off x="534239" y="6415801"/>
            <a:ext cx="609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https://twojun-space.tistory.com/124</a:t>
            </a:r>
            <a:endParaRPr lang="ko-KR" altLang="en-US" sz="1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A2DD56-5CAF-A305-779E-2617E2B27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71" y="4129736"/>
            <a:ext cx="2743200" cy="2057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6E266D-7FCC-7760-B06C-5D57CF754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463" y="4212260"/>
            <a:ext cx="2420052" cy="19748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CDB19E6-B8D5-6D9C-44F2-4DCDDC84F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707" y="4269259"/>
            <a:ext cx="1967280" cy="19672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141D7E9-9A32-62B9-D62D-3AA6FC0E3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179" y="4283892"/>
            <a:ext cx="2413706" cy="196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77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4FFA-C5BF-80BA-8F33-62268D4F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DF33353-AC3A-729D-11A2-89E3AC8E5500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(Gradient Descent)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에서의 용어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/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파라미터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(gradient)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만들어내는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평균적인 오차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기울기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이터레이션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(iterations)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데이터의 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일부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혹은 </a:t>
            </a: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보고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현재 위치의 경사를 계산하고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 걸음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이동하는 과정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에포크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(Epoch)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데이터를 모두 한 번 훑어보면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1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에포크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학습률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(Learning Rate, alpha)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 번에 얼마나 크게 움직일지를 결정하는 보폭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414A3B4-DF41-4B57-FD06-1E5AB768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경사 하강법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8408AC-C497-CBF6-025B-35A40600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81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E150-A89A-E870-60EC-91756BCB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7A98C538-967D-FC8B-7D9E-8EE92A27817F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555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(Gradient Descent)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에서의 용어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/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파라미터 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(2/2)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허용 오차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(Tolerance, tol)</a:t>
            </a:r>
            <a:endParaRPr kumimoji="1" lang="en-US" altLang="ko-KR" sz="1600" b="1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 조기 종료 조건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오차 감소량이 매우 작아지면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학습해도 성능향상이 없겠다고 판단하여 학습을 멈춤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배치 크기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(batch)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기울기를 구할 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 오차의 기울기를 한 번에 구하지 않음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=&gt;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너무 느림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작은 묶음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 나눠서 처리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데이터 오차의 기울기를 한 번에 구하는 경우에는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“1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이터레이션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= “1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에포크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 누적 스텝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(Gradient Accumulation Steps</a:t>
            </a:r>
            <a:r>
              <a:rPr lang="en-US" altLang="ko-KR" sz="1800" b="1"/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실질적인 배치 크기를 늘리는 고급 기법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 배치마다 업데이트하는 것이 아닌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n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번의 배치 간격으로 누적한 기울기를 기반으로 이동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7D0A1CE-14E5-7F0F-DC9C-F15824DF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경사 하강법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003DBA-0A00-A16C-926D-F300B3F3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151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5CF7-B5A9-B6FA-CA04-987D57B2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9DC1BC4-CFD7-CBBF-C759-1FC44B7103EC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(Gradient Descent)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종류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배치 경사 하강법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(Batch Gradient Descent)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데이터를 훑어보고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기울기를 계산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 epoch = 1 iteration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정확하지만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데이터가 크면 매우 느림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확률적 경사 하강법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(SGD , Stochastic Gradient Descent)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하나의 데이터만 보고 바로 기울기를 계산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매우 빠르지만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불안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800100" lvl="1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미니배치 경사 하강법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(Mini-batch Gradient Descent)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적당한 수의 배치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(batch)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 보고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기울기를 계산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속도와 안정성을 모두 잡은 방법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배치 수는 정해진 답이 없으며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실험적으로 구해야 함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DBE1B6A-A4F6-3482-F5A0-8DB4BF44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경사 하강법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453755-408F-DA93-99F2-9A19A888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3969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50BF-5090-46BB-C277-E615351B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B19782C-EF6D-BF02-5F75-5D43A11ACD2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로지스틱 회귀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08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DB33-2428-BE57-1A77-0940E878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836D9EE-CF4D-0B9D-325F-5EFECECBCDD8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(Supervised Learning)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레이블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Label)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있는 데이터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피쳐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Feature)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학습시키는 방법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우리가 맞춰야  할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따라 두 가지의 큰 유형으로 나뉨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지도 학습 유형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</a:t>
            </a:r>
            <a:r>
              <a:rPr kumimoji="1" lang="en-US" altLang="ko-KR" sz="18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(Regression)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연속적인 숫자 값을 예측하는 문제</a:t>
            </a:r>
            <a:endParaRPr kumimoji="1" lang="en-US" altLang="ko-KR" sz="16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와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 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기반으로 학습한  모델이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새로운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Feature”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</a:t>
            </a: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Label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예측하는 것</a:t>
            </a:r>
            <a:endParaRPr kumimoji="1" lang="en-US" altLang="ko-KR" sz="16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 </a:t>
            </a:r>
            <a:r>
              <a:rPr kumimoji="1" lang="ko-KR" altLang="en-US" sz="16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공부한 시간에 따른 시험 점수 예측하기</a:t>
            </a:r>
            <a:endParaRPr kumimoji="1" lang="en-US" altLang="ko-KR" sz="1600" spc="-150">
              <a:solidFill>
                <a:schemeClr val="tx1">
                  <a:lumMod val="50000"/>
                  <a:lumOff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</a:t>
            </a:r>
            <a:r>
              <a:rPr kumimoji="1" lang="en-US" altLang="ko-KR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(Classification)</a:t>
            </a:r>
            <a:r>
              <a:rPr kumimoji="1" lang="ko-KR" altLang="en-US" sz="1800" spc="-150">
                <a:solidFill>
                  <a:srgbClr val="C0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=&gt;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 문제를 푸는 가장 기본적이면서 강력한 도구가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로지스틱 회귀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endParaRPr kumimoji="1" lang="en-US" altLang="ko-KR" sz="1800" b="1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주어진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Feature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어떤 그룹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카테고리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속하는 지 예측하는 문제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ex)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메일의 내용을 보고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‘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스팸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‘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정상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’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인지 판단하기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B265520-3418-6659-F99E-B0385BBB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ED6E224-2C7E-2F7B-C45D-99AEDC64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401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A9E3-2582-1039-8E7D-B31B557D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F3D35789-3137-D7C5-3A18-B30CE81E435C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224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근데 그냥 선형 회귀로 분류 문제를 풀면 안되나요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안됩니다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 (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단호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en-US" altLang="ko-KR" sz="24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(1/3)</a:t>
            </a:r>
          </a:p>
          <a:p>
            <a:pPr marL="914400" lvl="1" indent="-4572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예측값이 범위를 벗어남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회귀는 끊임없이 이어지는 직선으로  되어 있고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b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어떠한 입력값이든 비례하는 값을 예측함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이는 분류 범위을 훨씬 벗어나는 예측값을 계산하게 됨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예를 들면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환자가 암에 걸릴 확률이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150% or -230%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의미가 없음 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ü"/>
            </a:pP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100%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이상은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100%, 0%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이하는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0%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식으로 결과만 자르면 안되나요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임시 방편에 불과함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마치 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1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 과녁에서 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 방향으로 쐈다고 </a:t>
            </a:r>
            <a:r>
              <a:rPr kumimoji="1" lang="en-US" altLang="ko-KR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점을 주는 것과 같음 </a:t>
            </a:r>
            <a:endParaRPr kumimoji="1" lang="en-US" altLang="ko-KR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A3AB371-74D3-E0BC-D3D1-CE5050AB4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4A1E6B-6FDD-EF4D-6C89-563DD541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AE6327-AB23-6736-794C-D5665019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059" y="1882328"/>
            <a:ext cx="3811336" cy="206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95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202F-8967-A206-EE90-514AB520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92A554A-9BEB-44A1-9F28-A855CBB90E3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근데 그냥 선형 회귀로 분류 문제를 풀면 안되나요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안됩니다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 (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단호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en-US" altLang="ko-KR" sz="24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(2/3)</a:t>
            </a:r>
            <a:endParaRPr kumimoji="1" lang="en-US" altLang="ko-KR" sz="2400" b="1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1" indent="-4572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 startAt="2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(Outlier)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매우 민감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회귀는 모든 데이터와의 평균적인 거리를 최소화하는 것이 목적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이상치가 추가된다면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이상치에 따라 직선의 기울기가 바뀌게 됨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이로 인해서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 기준선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(Decision Boundary)”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완전히 망가지는 현상이 발생 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ü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 문제에서도 이상치가 나오면 동일한 문제가 발생하는 거 아닌가요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Arial" panose="020B0604020202020204" pitchFamily="34" charset="0"/>
              <a:buChar char="•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회귀에서는 단지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하나의 예측을 크게 틀리게 만드는 것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정도이지만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Arial" panose="020B0604020202020204" pitchFamily="34" charset="0"/>
              <a:buChar char="•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분류에서는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 규칙 자체를 바꿔버림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40BA914-1776-C96A-BEBD-C63E0188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C61127-D291-AA0C-4F39-32322C88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E6F88E-3374-05B6-AB61-36A491F88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059" y="1882328"/>
            <a:ext cx="3811336" cy="206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57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1495-F679-B201-5FDF-60A6CB68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08F67D8-251E-EC14-299B-07986768D239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925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근데 그냥 선형 회귀로 분류 문제를 풀면 안되나요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안됩니다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 (</a:t>
            </a:r>
            <a:r>
              <a:rPr kumimoji="1" lang="ko-KR" altLang="en-US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단호</a:t>
            </a:r>
            <a:r>
              <a:rPr kumimoji="1" lang="en-US" altLang="ko-KR" sz="2400" b="1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en-US" altLang="ko-KR" sz="24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(3/3)</a:t>
            </a:r>
            <a:endParaRPr kumimoji="1" lang="en-US" altLang="ko-KR" sz="2400" b="1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914400" lvl="1" indent="-4572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 startAt="3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다중 분류 문제에서 잘못된 관계를 학습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분류할 그룹이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 이상일 경우에 그룹들간에 수학적인 관계가 있다고 착각함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3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개의 그룹을 분류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(“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”, “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”, “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”)</a:t>
            </a: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분류를 위해 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=1,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=2,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=3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으로 설정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(1)”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(3)”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의 중간은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(2)”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같이 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실제로는 존재하지 않는 거짓된 순서나 크기 관계를 학습하게 됨 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3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그러면 위의 문제</a:t>
            </a:r>
            <a:r>
              <a:rPr kumimoji="1" lang="en-US" altLang="ko-KR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(1.</a:t>
            </a:r>
            <a:r>
              <a:rPr kumimoji="1" lang="ko-KR" altLang="en-US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예측값 오류</a:t>
            </a:r>
            <a:r>
              <a:rPr kumimoji="1" lang="en-US" altLang="ko-KR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2.</a:t>
            </a:r>
            <a:r>
              <a:rPr kumimoji="1" lang="ko-KR" altLang="en-US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이상치</a:t>
            </a:r>
            <a:r>
              <a:rPr kumimoji="1" lang="en-US" altLang="ko-KR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3.</a:t>
            </a:r>
            <a:r>
              <a:rPr kumimoji="1" lang="ko-KR" altLang="en-US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다중 분류 문제</a:t>
            </a:r>
            <a:r>
              <a:rPr kumimoji="1" lang="en-US" altLang="ko-KR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어떻게 해결할까</a:t>
            </a:r>
            <a:r>
              <a:rPr kumimoji="1" lang="en-US" altLang="ko-KR" sz="22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회귀의  예측값을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en-US" altLang="ko-KR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 </a:t>
            </a:r>
            <a:r>
              <a:rPr kumimoji="1" lang="en-US" altLang="ko-KR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800" spc="-150">
                <a:solidFill>
                  <a:srgbClr val="1368C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사이의 값으로 바꿔서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생각하자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 ( 1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번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2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번 문제 해결 가능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</a:t>
            </a:r>
            <a:r>
              <a:rPr kumimoji="1" lang="en-US" altLang="ko-KR" sz="18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(Sigmoid)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함수의 등장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!!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F8AB88-DE91-29AF-51DB-49B726F1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631AA7-3601-9283-5897-EC95B36E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2EFD54-2F3C-B6E6-1545-BFE7A07BA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059" y="1882328"/>
            <a:ext cx="3811336" cy="206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10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5865-84BC-BD70-B9E3-0431679B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1C171F4A-4A4E-3A70-2BBC-3DAA7CFCD61D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0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(Sigmoid) 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 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어떤 숫자든 입력받아 그 값을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사이의 값으로 압축해주는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자 모양의 함수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음의 무한대부터 양의 무한대까지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어떤 숫자든 넣을 수 있고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결과는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항상 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 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사이의 값으로 나옴</a:t>
            </a:r>
            <a:endParaRPr kumimoji="1" lang="en-US" altLang="ko-KR" sz="20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공식의 특징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z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아주 큰 양수이면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분모가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가까워져서 결과는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가까워 짐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z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아주 큰 음수이면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분모가 무한대에 가까워져서 결과는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가까워 짐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한계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이후에 배울 역전파에서 기울기를 전달하는 과정에서 기울기가 없어지는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 소실</a:t>
            </a:r>
            <a:r>
              <a:rPr kumimoji="1" lang="en-US" altLang="ko-KR" sz="16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(Vanishing Gradient)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문제가 발생할 수 있음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ReLU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함수와 같은 다른 활성화 함수들이 더 널리 사용됨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이후 학습 예정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FF9CFBF-83F2-FAFF-D122-DA4953B0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F30281-351B-D38F-6D8E-3FEE8EF0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B603C0-FA24-66AF-BE3E-34FCFC749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042" y="2919182"/>
            <a:ext cx="4005758" cy="2670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3377C7-CDFB-21FC-9E52-D5C3B00DF0C2}"/>
              </a:ext>
            </a:extLst>
          </p:cNvPr>
          <p:cNvSpPr txBox="1"/>
          <p:nvPr/>
        </p:nvSpPr>
        <p:spPr>
          <a:xfrm>
            <a:off x="715945" y="6415801"/>
            <a:ext cx="60943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https://datasciencebeehive.tistory.com/80</a:t>
            </a:r>
          </a:p>
        </p:txBody>
      </p:sp>
    </p:spTree>
    <p:extLst>
      <p:ext uri="{BB962C8B-B14F-4D97-AF65-F5344CB8AC3E}">
        <p14:creationId xmlns:p14="http://schemas.microsoft.com/office/powerpoint/2010/main" val="4116742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2035-0574-E48B-F508-C8BF21AE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340DEC-399B-8EB0-38AF-98E7D59B7F7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45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로지스틱 회귀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(Logistic Regression)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 함수</a:t>
            </a:r>
            <a:endParaRPr kumimoji="1" lang="en-US" altLang="ko-KR" sz="2000" spc="-150">
              <a:solidFill>
                <a:srgbClr val="FF0000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데이터를 특정 그룹으로 나누는 분류 방법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분류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기존 채점 기준인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MSE(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대신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교차 엔트로피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(BCE)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사용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평균 제곱 오차를 사용하지 못하는 이유는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</a:t>
            </a: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하강법이  잘 작동하려면 비용 함수 모양이 매끄러워야 하는데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시그모이드는 울퉁불퉁한 모양을 만들어 냄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이는 수 많은 </a:t>
            </a: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지역 최저점</a:t>
            </a:r>
            <a:r>
              <a:rPr kumimoji="1" lang="en-US" altLang="ko-KR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(Local minima)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으로 학습에 어려움을 줌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marL="1257300" lvl="2" indent="-342900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+mj-lt"/>
              <a:buAutoNum type="arabicPeriod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학습에 게을러지는데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“1”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이고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예측값이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“0.01”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이라고 하면 아주 큰 실수이지만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b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</a:b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정작 모델은 작은 예측값에 따라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기울기도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가까워지고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그로 인해 움직이지 않는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16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기울기 소실 문제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 발생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F5210F0-2E24-B45E-6AEC-1FE15C6C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1ABDB8-C980-3AFB-340A-8E4ECCE9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60E81-01EA-EE6D-E97A-0E5373CB0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276" y="1231601"/>
            <a:ext cx="3385457" cy="18337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F74F7D-9A91-6E78-9B64-49CB5069E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3423133"/>
            <a:ext cx="2875581" cy="168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40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DC2A-F173-018D-A3AB-C8224F74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A142E88-7F1B-A204-FA47-A620C2FA97C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22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교차 엔트로피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(BCE, Binary Cross-Entropy)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두 가지 중 하나의 답을 맞혀야 하는 이진 분류 문제를 위한 전용 손실 함수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정답이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 경우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확률을 예측할수록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손실을 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잘함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확률을 예측할수록 무한대에 가까운 손실을 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못함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정답이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인 경우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확률을 예측할수록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손실을 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잘함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가까운 확률을 예측할수록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무한대에 가까운 손실을 줌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못함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결론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틀린 답에 대해</a:t>
            </a:r>
            <a:r>
              <a:rPr kumimoji="1" lang="en-US" altLang="ko-KR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모델이 얼마나 강하게 확신했느냐에 따라 벌점의 크기를 기하급수적으로 늘리는 것</a:t>
            </a:r>
            <a:endParaRPr kumimoji="1" lang="en-US" altLang="ko-KR" sz="2000" b="1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BC7538C-1DD0-7A91-6BD6-65445ADD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844A84-E9D8-FA32-E486-BA82E66D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99AD88-9667-03D9-284D-4F5C256ED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253" y="2076564"/>
            <a:ext cx="6066667" cy="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03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33B4-6085-6E17-1FEF-79D8391F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92EA27D-32FE-0D33-F98F-4A7CBA88E4E7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6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로지스틱 회귀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(Logistic Regression) 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완성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데이터를 특정 그룹으로 나누는 분류 방법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분류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 함수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20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교차 엔트로피</a:t>
            </a:r>
            <a:r>
              <a:rPr kumimoji="1" lang="en-US" altLang="ko-KR" sz="20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(BCE)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이후 학습은 선형 회귀와 마찬가지로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경사 하강법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을 사용하고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교차 엔트로피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(BCE)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비용을 최소화하는 방향으로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w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b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계속 업데이트 함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그러면 아까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 함수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로도 해결 못 한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b="1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다중 분류 문제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는 어떻게 해결할까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Ø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시그모이드 함수 대신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소프트맥스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(Softmax)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를 활용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87DDDA6-13F0-F43D-38AA-1CD3522F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954B09F-E258-3FD7-7C28-557CFA26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6676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B83E-438D-D718-D30A-89F6EC2F2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64ABD96-466E-8538-8A8D-B525099A486E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소프트맥스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(Softmax)</a:t>
            </a: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함수</a:t>
            </a:r>
            <a:endParaRPr kumimoji="1" lang="en-US" altLang="ko-KR" sz="2400" b="1" spc="-150">
              <a:solidFill>
                <a:schemeClr val="tx1">
                  <a:lumMod val="85000"/>
                  <a:lumOff val="15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모델의 출력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점수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들을 받아서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클래스에 대한 확률의 총합이 반드시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되도록 만들어주는 함수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즉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전체를 하나의 확률 분포로 바꿈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예를 들어 입력 데이터가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2.0,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1.0,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0.1]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 때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소프트맥스 함수의 출력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[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0.7,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0.2,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0.1] (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총합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= 1.0)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여러 선택지 중 단 하나의 정답을 고르는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“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다중 클래스 분류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”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사용 됨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Wingdings" panose="05000000000000000000" pitchFamily="2" charset="2"/>
              <a:buChar char="v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헷갈릴 수 있는 시그모이드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(Sigmoid) 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와의 차이 </a:t>
            </a:r>
            <a:endParaRPr kumimoji="1" lang="en-US" altLang="ko-KR" sz="20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문제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사진이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'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고양이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'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 확률은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(0.7) → "Yes“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문제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: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사진이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'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새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'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 확률은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? (0.1) → "No“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독립적인 출력을 하며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모든 출력값의 합이 </a:t>
            </a:r>
            <a:r>
              <a:rPr kumimoji="1" lang="en-US" altLang="ko-KR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된다는 보장이 없음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6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이진 분류에 적합 </a:t>
            </a:r>
            <a:endParaRPr kumimoji="1" lang="en-US" altLang="ko-KR" sz="16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2C60B5B-6E74-9D8E-4EA3-008E1F7E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C7ED51-272B-B3E6-65C9-3D0D62A0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B95BF5-810C-680D-5C8E-B96B1E426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210075"/>
            <a:ext cx="2704762" cy="1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60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18B4-FB63-90F4-999C-859323B4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980F80A-810F-AD8B-0BEB-12D7B7EB859B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319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3"/>
              </a:buBlip>
            </a:pPr>
            <a:r>
              <a:rPr kumimoji="1" lang="ko-KR" altLang="en-US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소프트맥스 회귀</a:t>
            </a: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(Softmax Regression)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 개 이상의 그룹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클래스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에서 하나를 예측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다중 분류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선형 회귀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 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소프트맥스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(Softmax)</a:t>
            </a:r>
            <a:r>
              <a:rPr kumimoji="1" lang="ko-KR" altLang="en-US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함수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</a:t>
            </a:r>
            <a:r>
              <a:rPr kumimoji="1" lang="en-US" altLang="ko-KR" sz="2000" spc="-150">
                <a:solidFill>
                  <a:srgbClr val="FF000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kumimoji="1" lang="ko-KR" altLang="en-US" sz="20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범주형 교차 엔트로피</a:t>
            </a:r>
            <a:r>
              <a:rPr kumimoji="1" lang="en-US" altLang="ko-KR" sz="2000" spc="-150">
                <a:solidFill>
                  <a:srgbClr val="0C45FC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(CCE, Categorical Cross Entropy)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endParaRPr kumimoji="1" lang="en-US" altLang="ko-KR" sz="2000" spc="-150">
              <a:solidFill>
                <a:srgbClr val="0C45FC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50000"/>
                    <a:lumOff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범주형 교차 엔트로피 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</a:t>
            </a:r>
            <a:r>
              <a:rPr kumimoji="1" lang="ko-KR" altLang="en-US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별로 안중요함</a:t>
            </a:r>
            <a:r>
              <a:rPr kumimoji="1" lang="en-US" altLang="ko-KR" sz="20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손실은 실제 정답인 클래스에 대해 모델이 예측한 확률값에만 집중하여 계산</a:t>
            </a:r>
            <a:endParaRPr kumimoji="1" lang="en-US" altLang="ko-KR" sz="1800" spc="-15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 정답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(y i​ )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은 정답 클래스에서만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kumimoji="1" lang="ko-KR" altLang="en-US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이고 나머지에서는 </a:t>
            </a:r>
            <a:r>
              <a:rPr kumimoji="1" lang="en-US" altLang="ko-KR" sz="1800" spc="-15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27AAE25-368E-3782-4C5E-B76540AE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로지스틱 회귀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5ACDB9-4CDD-C77A-A9F9-A63718CA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DBF86F-944E-2AFD-1218-8E5A163FA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235" y="4388737"/>
            <a:ext cx="3475457" cy="12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48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CCD3A5-C393-D28A-95CF-E0EDBCE2A35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/>
              <a:t>과적합과 정규화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743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D79D-E3E3-8DF9-7AA4-17D58718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80CBC4-6192-9AD7-F319-78BCEF2A8952}"/>
              </a:ext>
            </a:extLst>
          </p:cNvPr>
          <p:cNvSpPr txBox="1">
            <a:spLocks/>
          </p:cNvSpPr>
          <p:nvPr/>
        </p:nvSpPr>
        <p:spPr>
          <a:xfrm>
            <a:off x="309605" y="1014045"/>
            <a:ext cx="115775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맑은 고딕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삼성긴고딕 Medium" panose="020B0600000101010101" pitchFamily="50" charset="-127"/>
                <a:ea typeface="삼성긴고딕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6" indent="-266706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  <a:buFont typeface="맑은 고딕" panose="020B0604020202020204" pitchFamily="34" charset="0"/>
              <a:buBlip>
                <a:blip r:embed="rId2"/>
              </a:buBlip>
            </a:pPr>
            <a:r>
              <a:rPr kumimoji="1" lang="en-US" altLang="ko-KR" sz="2400" b="1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과적합(Overfitting)과 일반화(Generalization)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과소적합(Underfitting): 모델이 너무 단순해서 학습 데이터조차 제대로 학습 못하는 상태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해결책: 더 복잡한 모델 사용, 더 많은 특성(Feature) 추가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과적합(Overfitting): 모델이 학습 데이터를 너무 잘 외워서, 새로운 데이터에는 잘 작동하지 않는 상태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원인: 너무 복잡한 모델, 학습 데이터가 너무 적음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증상: Train 성능은 매우 좋은데, Test 성능이 나쁨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해결책: 정규화(Regularization), 더 많은 데이터, 드롭아웃(이후 학습)</a:t>
            </a:r>
          </a:p>
          <a:p>
            <a:pPr lvl="1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20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일반화(Generalization): 학습하지 않은 새 데이터에서도 좋은 성능을 내는 것 (우리의 진짜 목표)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Validation 성능 = 실전 성능의 지표</a:t>
            </a:r>
          </a:p>
          <a:p>
            <a:pPr lvl="2" fontAlgn="base" latinLnBrk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rgbClr val="7F7F7F"/>
              </a:buClr>
              <a:buSzPct val="95000"/>
            </a:pPr>
            <a:r>
              <a:rPr kumimoji="1" lang="ko-KR" altLang="en-US" sz="1800" spc="-150">
                <a:solidFill>
                  <a:schemeClr val="tx1">
                    <a:lumMod val="85000"/>
                    <a:lumOff val="15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Train 성능과 Validation 성능의 차이가 클수록 과적합 의심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E0DE4A6-6A7F-018F-86B4-261636C6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pc="-150"/>
              <a:t>과적합과 정규화</a:t>
            </a:r>
            <a:endParaRPr lang="ko-KR" altLang="en-US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C6913F-3815-1F77-6D24-F428B0EB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59E1-85F6-4F08-BE94-CC14AB777339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57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맑은 고딕"/>
        <a:font script="Hebr" typeface="맑은 고딕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맑은 고딕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805e87-c28d-4de3-9cfd-97861b2d07b7" xsi:nil="true"/>
    <lcf76f155ced4ddcb4097134ff3c332f xmlns="8ac307eb-12d9-434d-8280-a47ce07b356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13B4BD8A056C4790386A6040E7CFD1" ma:contentTypeVersion="14" ma:contentTypeDescription="Create a new document." ma:contentTypeScope="" ma:versionID="cba4c7284f984d0e58bc5d1f8e1eab77">
  <xsd:schema xmlns:xsd="http://www.w3.org/2001/XMLSchema" xmlns:xs="http://www.w3.org/2001/XMLSchema" xmlns:p="http://schemas.microsoft.com/office/2006/metadata/properties" xmlns:ns2="8ac307eb-12d9-434d-8280-a47ce07b356d" xmlns:ns3="8f805e87-c28d-4de3-9cfd-97861b2d07b7" targetNamespace="http://schemas.microsoft.com/office/2006/metadata/properties" ma:root="true" ma:fieldsID="b03236e00aeb926428a82f8087a1860a" ns2:_="" ns3:_="">
    <xsd:import namespace="8ac307eb-12d9-434d-8280-a47ce07b356d"/>
    <xsd:import namespace="8f805e87-c28d-4de3-9cfd-97861b2d0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307eb-12d9-434d-8280-a47ce07b35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c46e051-5fa8-49ba-8aeb-00ab0dce5d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05e87-c28d-4de3-9cfd-97861b2d07b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8b60f0b-eddc-4fe4-b104-204d6cb4ead2}" ma:internalName="TaxCatchAll" ma:showField="CatchAllData" ma:web="8f805e87-c28d-4de3-9cfd-97861b2d07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BD23B8-C58B-44B7-97C2-6793E35F693E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8f805e87-c28d-4de3-9cfd-97861b2d07b7"/>
    <ds:schemaRef ds:uri="http://schemas.microsoft.com/office/infopath/2007/PartnerControls"/>
    <ds:schemaRef ds:uri="8ac307eb-12d9-434d-8280-a47ce07b356d"/>
  </ds:schemaRefs>
</ds:datastoreItem>
</file>

<file path=customXml/itemProps2.xml><?xml version="1.0" encoding="utf-8"?>
<ds:datastoreItem xmlns:ds="http://schemas.openxmlformats.org/officeDocument/2006/customXml" ds:itemID="{7014FE09-D7BF-4E64-8DF0-0B361D832E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c307eb-12d9-434d-8280-a47ce07b356d"/>
    <ds:schemaRef ds:uri="8f805e87-c28d-4de3-9cfd-97861b2d0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B9AB81-7F81-47D8-BFD0-372AAAC260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13489</TotalTime>
  <Words>4439</Words>
  <Application>Microsoft Office PowerPoint</Application>
  <PresentationFormat>와이드스크린</PresentationFormat>
  <Paragraphs>554</Paragraphs>
  <Slides>44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Wingdings</vt:lpstr>
      <vt:lpstr>Pretendard Light</vt:lpstr>
      <vt:lpstr>맑은 고딕</vt:lpstr>
      <vt:lpstr>삼성긴고딕 Regular</vt:lpstr>
      <vt:lpstr>Pretendard Variable Light</vt:lpstr>
      <vt:lpstr>Arial</vt:lpstr>
      <vt:lpstr>Cambria Math</vt:lpstr>
      <vt:lpstr>삼성긴고딕 ExtraBold</vt:lpstr>
      <vt:lpstr>삼성긴고딕 Bold</vt:lpstr>
      <vt:lpstr>삼성긴고딕 Medium</vt:lpstr>
      <vt:lpstr>Office 테마</vt:lpstr>
      <vt:lpstr>2. 선형 회귀 모델</vt:lpstr>
      <vt:lpstr>INDEX</vt:lpstr>
      <vt:lpstr>PowerPoint 프레젠테이션</vt:lpstr>
      <vt:lpstr>머신러닝</vt:lpstr>
      <vt:lpstr>머신러닝</vt:lpstr>
      <vt:lpstr>머신러닝</vt:lpstr>
      <vt:lpstr>머신러닝</vt:lpstr>
      <vt:lpstr>머신러닝</vt:lpstr>
      <vt:lpstr>PowerPoint 프레젠테이션</vt:lpstr>
      <vt:lpstr>데이터 전처리</vt:lpstr>
      <vt:lpstr>데이터 전처리</vt:lpstr>
      <vt:lpstr>데이터 전처리</vt:lpstr>
      <vt:lpstr>데이터 전처리</vt:lpstr>
      <vt:lpstr>PowerPoint 프레젠테이션</vt:lpstr>
      <vt:lpstr>선형 회귀</vt:lpstr>
      <vt:lpstr>선형 회귀</vt:lpstr>
      <vt:lpstr>선형 회귀</vt:lpstr>
      <vt:lpstr>선형 회귀</vt:lpstr>
      <vt:lpstr>선형 회귀</vt:lpstr>
      <vt:lpstr>선형 회귀</vt:lpstr>
      <vt:lpstr>선형 회귀</vt:lpstr>
      <vt:lpstr>PowerPoint 프레젠테이션</vt:lpstr>
      <vt:lpstr>정규 방정식</vt:lpstr>
      <vt:lpstr>정규 방정식</vt:lpstr>
      <vt:lpstr>PowerPoint 프레젠테이션</vt:lpstr>
      <vt:lpstr>머신러닝</vt:lpstr>
      <vt:lpstr>경사 하강법</vt:lpstr>
      <vt:lpstr>경사 하강법</vt:lpstr>
      <vt:lpstr>경사 하강법</vt:lpstr>
      <vt:lpstr>경사 하강법</vt:lpstr>
      <vt:lpstr>경사 하강법</vt:lpstr>
      <vt:lpstr>PowerPoint 프레젠테이션</vt:lpstr>
      <vt:lpstr>로지스틱 회귀</vt:lpstr>
      <vt:lpstr>로지스틱 회귀</vt:lpstr>
      <vt:lpstr>로지스틱 회귀</vt:lpstr>
      <vt:lpstr>로지스틱 회귀</vt:lpstr>
      <vt:lpstr>로지스틱 회귀</vt:lpstr>
      <vt:lpstr>로지스틱 회귀</vt:lpstr>
      <vt:lpstr>로지스틱 회귀</vt:lpstr>
      <vt:lpstr>로지스틱 회귀</vt:lpstr>
      <vt:lpstr>로지스틱 회귀</vt:lpstr>
      <vt:lpstr>로지스틱 회귀</vt:lpstr>
      <vt:lpstr>PowerPoint 프레젠테이션</vt:lpstr>
      <vt:lpstr>과적합과 정규화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jjun</dc:creator>
  <cp:lastModifiedBy>giwook shin</cp:lastModifiedBy>
  <cp:revision>781</cp:revision>
  <cp:lastPrinted>2019-06-28T04:10:12Z</cp:lastPrinted>
  <dcterms:created xsi:type="dcterms:W3CDTF">2019-05-31T09:31:34Z</dcterms:created>
  <dcterms:modified xsi:type="dcterms:W3CDTF">2026-03-17T03:12:23Z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AB52C6BCCACA94F22A564D49379192C1F85FD503E8D057CDEFC9F621448DEA2A</vt:lpwstr>
  </property>
  <property fmtid="{D5CDD505-2E9C-101B-9397-08002B2CF9AE}" pid="2" name="NSCPROP">
    <vt:lpwstr>NSCCustomProperty</vt:lpwstr>
  </property>
  <property fmtid="{D5CDD505-2E9C-101B-9397-08002B2CF9AE}" pid="3" name="NSCPROP_SA">
    <vt:lpwstr>C:\mySingle\TEMP\(190618) 2기 입학식 진행PPT v1.2.pptx</vt:lpwstr>
  </property>
  <property fmtid="{D5CDD505-2E9C-101B-9397-08002B2CF9AE}" pid="4" name="ContentTypeId">
    <vt:lpwstr>0x010100F013B4BD8A056C4790386A6040E7CFD1</vt:lpwstr>
  </property>
  <property fmtid="{D5CDD505-2E9C-101B-9397-08002B2CF9AE}" pid="5" name="MediaServiceImageTags">
    <vt:lpwstr/>
  </property>
</Properties>
</file>